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2"/>
  </p:sldMasterIdLst>
  <p:notesMasterIdLst>
    <p:notesMasterId r:id="rId10"/>
  </p:notesMasterIdLst>
  <p:sldIdLst>
    <p:sldId id="508" r:id="rId3"/>
    <p:sldId id="256" r:id="rId4"/>
    <p:sldId id="408" r:id="rId5"/>
    <p:sldId id="257" r:id="rId6"/>
    <p:sldId id="287" r:id="rId7"/>
    <p:sldId id="258" r:id="rId8"/>
    <p:sldId id="2147483647" r:id="rId9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6742"/>
    <a:srgbClr val="E9F0EC"/>
    <a:srgbClr val="BFBFBF"/>
    <a:srgbClr val="F2F2F2"/>
    <a:srgbClr val="017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6" autoAdjust="0"/>
    <p:restoredTop sz="94660"/>
  </p:normalViewPr>
  <p:slideViewPr>
    <p:cSldViewPr snapToGrid="0">
      <p:cViewPr varScale="1">
        <p:scale>
          <a:sx n="98" d="100"/>
          <a:sy n="98" d="100"/>
        </p:scale>
        <p:origin x="13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63E8B6-D200-4E7F-8753-190480AC99A5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5E1CAB-D2C6-47B5-A7D4-9266C4DE9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9168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GB" sz="1200" smtClean="0">
                <a:solidFill>
                  <a:schemeClr val="dk1"/>
                </a:solidFill>
                <a:ea typeface="Calibri"/>
                <a:sym typeface="Calibri"/>
              </a:rPr>
              <a:pPr algn="r"/>
              <a:t>1</a:t>
            </a:fld>
            <a:endParaRPr lang="en-GB" sz="1200" dirty="0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291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">
          <a:extLst>
            <a:ext uri="{FF2B5EF4-FFF2-40B4-BE49-F238E27FC236}">
              <a16:creationId xmlns:a16="http://schemas.microsoft.com/office/drawing/2014/main" id="{73CEEB9B-A991-8779-C44A-8C0EFE528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32:notes">
            <a:extLst>
              <a:ext uri="{FF2B5EF4-FFF2-40B4-BE49-F238E27FC236}">
                <a16:creationId xmlns:a16="http://schemas.microsoft.com/office/drawing/2014/main" id="{B22D2AC7-29A8-DDA8-8A82-97E54F5B69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90" name="Google Shape;1390;p32:notes">
            <a:extLst>
              <a:ext uri="{FF2B5EF4-FFF2-40B4-BE49-F238E27FC236}">
                <a16:creationId xmlns:a16="http://schemas.microsoft.com/office/drawing/2014/main" id="{D4E9FB86-4BFB-84D2-EBD4-28F4C032C4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1" name="Google Shape;1391;p32:notes">
            <a:extLst>
              <a:ext uri="{FF2B5EF4-FFF2-40B4-BE49-F238E27FC236}">
                <a16:creationId xmlns:a16="http://schemas.microsoft.com/office/drawing/2014/main" id="{02596AD0-C128-5839-3457-FFAC0D23B9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3794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" name="Google Shape;7260;p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261" name="Google Shape;7261;p1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62" name="Google Shape;7262;p1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">
          <a:extLst>
            <a:ext uri="{FF2B5EF4-FFF2-40B4-BE49-F238E27FC236}">
              <a16:creationId xmlns:a16="http://schemas.microsoft.com/office/drawing/2014/main" id="{2FAB7429-6740-D913-5E67-6FBB3B749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32:notes">
            <a:extLst>
              <a:ext uri="{FF2B5EF4-FFF2-40B4-BE49-F238E27FC236}">
                <a16:creationId xmlns:a16="http://schemas.microsoft.com/office/drawing/2014/main" id="{714449CB-DC4E-D616-D8AE-10344BF21A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90" name="Google Shape;1390;p32:notes">
            <a:extLst>
              <a:ext uri="{FF2B5EF4-FFF2-40B4-BE49-F238E27FC236}">
                <a16:creationId xmlns:a16="http://schemas.microsoft.com/office/drawing/2014/main" id="{E1B53333-EA6F-59BF-13F1-9696DEF411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1" name="Google Shape;1391;p32:notes">
            <a:extLst>
              <a:ext uri="{FF2B5EF4-FFF2-40B4-BE49-F238E27FC236}">
                <a16:creationId xmlns:a16="http://schemas.microsoft.com/office/drawing/2014/main" id="{C6FB3BCA-FBC3-E044-0B83-8BBAAB45A3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4817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90" name="Google Shape;1390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1" name="Google Shape;1391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">
          <a:extLst>
            <a:ext uri="{FF2B5EF4-FFF2-40B4-BE49-F238E27FC236}">
              <a16:creationId xmlns:a16="http://schemas.microsoft.com/office/drawing/2014/main" id="{4B21257F-E1AB-F7D7-AC2D-C38C0C563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32:notes">
            <a:extLst>
              <a:ext uri="{FF2B5EF4-FFF2-40B4-BE49-F238E27FC236}">
                <a16:creationId xmlns:a16="http://schemas.microsoft.com/office/drawing/2014/main" id="{8BE140AC-7E25-BCA0-379D-82D3FAA3A2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90" name="Google Shape;1390;p32:notes">
            <a:extLst>
              <a:ext uri="{FF2B5EF4-FFF2-40B4-BE49-F238E27FC236}">
                <a16:creationId xmlns:a16="http://schemas.microsoft.com/office/drawing/2014/main" id="{85831862-1889-0E11-72E9-FF79ACAA28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1" name="Google Shape;1391;p32:notes">
            <a:extLst>
              <a:ext uri="{FF2B5EF4-FFF2-40B4-BE49-F238E27FC236}">
                <a16:creationId xmlns:a16="http://schemas.microsoft.com/office/drawing/2014/main" id="{382B24A5-2A89-62C8-4056-048EF201CC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068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2D947-17C3-499B-A9DB-B432A5CAE6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10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00704D"/>
                </a:solidFill>
                <a:latin typeface="Sakkal Majalla"/>
                <a:cs typeface="Sakkal Majall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243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00704D"/>
                </a:solidFill>
                <a:latin typeface="Sakkal Majalla"/>
                <a:cs typeface="Sakkal Majall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17" name="bjClassifierImageTop">
            <a:extLst>
              <a:ext uri="{FF2B5EF4-FFF2-40B4-BE49-F238E27FC236}">
                <a16:creationId xmlns:a16="http://schemas.microsoft.com/office/drawing/2014/main" id="{B5092957-F93B-7290-2023-5A29A3358045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72038" y="63500"/>
            <a:ext cx="244792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30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00704D"/>
                </a:solidFill>
                <a:latin typeface="Sakkal Majalla"/>
                <a:cs typeface="Sakkal Majall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1645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00704D"/>
                </a:solidFill>
                <a:latin typeface="Sakkal Majalla"/>
                <a:cs typeface="Sakkal Majall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9664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6" name="bjClassifierImageTop">
            <a:extLst>
              <a:ext uri="{FF2B5EF4-FFF2-40B4-BE49-F238E27FC236}">
                <a16:creationId xmlns:a16="http://schemas.microsoft.com/office/drawing/2014/main" id="{B87C1469-9313-4556-8FEF-1BE0AEB82CA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80025" y="63500"/>
            <a:ext cx="163195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444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with heading">
  <p:cSld name="3 columns with heading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>
            <a:spLocks noGrp="1"/>
          </p:cNvSpPr>
          <p:nvPr>
            <p:ph type="title"/>
          </p:nvPr>
        </p:nvSpPr>
        <p:spPr>
          <a:xfrm>
            <a:off x="457200" y="384048"/>
            <a:ext cx="112776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3" name="Google Shape;113;p23"/>
          <p:cNvSpPr txBox="1">
            <a:spLocks noGrp="1"/>
          </p:cNvSpPr>
          <p:nvPr>
            <p:ph type="body" idx="1"/>
          </p:nvPr>
        </p:nvSpPr>
        <p:spPr>
          <a:xfrm>
            <a:off x="457200" y="1399032"/>
            <a:ext cx="3454400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5pPr>
            <a:lvl6pPr marL="2743200" lvl="5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6pPr>
            <a:lvl7pPr marL="3200400" lvl="6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7pPr>
            <a:lvl8pPr marL="3657600" lvl="7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8pPr>
            <a:lvl9pPr marL="4114800" lvl="8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114" name="Google Shape;114;p23"/>
          <p:cNvSpPr txBox="1">
            <a:spLocks noGrp="1"/>
          </p:cNvSpPr>
          <p:nvPr>
            <p:ph type="body" idx="2"/>
          </p:nvPr>
        </p:nvSpPr>
        <p:spPr>
          <a:xfrm>
            <a:off x="457200" y="1883664"/>
            <a:ext cx="3454400" cy="451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9pPr>
          </a:lstStyle>
          <a:p>
            <a:endParaRPr dirty="0"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3"/>
          </p:nvPr>
        </p:nvSpPr>
        <p:spPr>
          <a:xfrm>
            <a:off x="4368799" y="1399032"/>
            <a:ext cx="3454400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5pPr>
            <a:lvl6pPr marL="2743200" lvl="5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6pPr>
            <a:lvl7pPr marL="3200400" lvl="6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7pPr>
            <a:lvl8pPr marL="3657600" lvl="7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8pPr>
            <a:lvl9pPr marL="4114800" lvl="8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116" name="Google Shape;116;p23"/>
          <p:cNvSpPr txBox="1">
            <a:spLocks noGrp="1"/>
          </p:cNvSpPr>
          <p:nvPr>
            <p:ph type="body" idx="4"/>
          </p:nvPr>
        </p:nvSpPr>
        <p:spPr>
          <a:xfrm>
            <a:off x="4368799" y="1883664"/>
            <a:ext cx="3454400" cy="451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9pPr>
          </a:lstStyle>
          <a:p>
            <a:endParaRPr dirty="0"/>
          </a:p>
        </p:txBody>
      </p:sp>
      <p:sp>
        <p:nvSpPr>
          <p:cNvPr id="117" name="Google Shape;117;p23"/>
          <p:cNvSpPr txBox="1">
            <a:spLocks noGrp="1"/>
          </p:cNvSpPr>
          <p:nvPr>
            <p:ph type="body" idx="5"/>
          </p:nvPr>
        </p:nvSpPr>
        <p:spPr>
          <a:xfrm>
            <a:off x="8280400" y="1399032"/>
            <a:ext cx="3454400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5pPr>
            <a:lvl6pPr marL="2743200" lvl="5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6pPr>
            <a:lvl7pPr marL="3200400" lvl="6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7pPr>
            <a:lvl8pPr marL="3657600" lvl="7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8pPr>
            <a:lvl9pPr marL="4114800" lvl="8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118" name="Google Shape;118;p23"/>
          <p:cNvSpPr txBox="1">
            <a:spLocks noGrp="1"/>
          </p:cNvSpPr>
          <p:nvPr>
            <p:ph type="body" idx="6"/>
          </p:nvPr>
        </p:nvSpPr>
        <p:spPr>
          <a:xfrm>
            <a:off x="8280400" y="1883664"/>
            <a:ext cx="3454400" cy="451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9pPr>
          </a:lstStyle>
          <a:p>
            <a:endParaRPr dirty="0"/>
          </a:p>
        </p:txBody>
      </p:sp>
      <p:pic>
        <p:nvPicPr>
          <p:cNvPr id="5" name="bjClassifierImageTop">
            <a:extLst>
              <a:ext uri="{FF2B5EF4-FFF2-40B4-BE49-F238E27FC236}">
                <a16:creationId xmlns:a16="http://schemas.microsoft.com/office/drawing/2014/main" id="{1FF393CC-A2B7-E9B5-07B6-9367F22ABC2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72038" y="63500"/>
            <a:ext cx="244792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278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  <p15:guide id="2" pos="2464">
          <p15:clr>
            <a:srgbClr val="FBAE40"/>
          </p15:clr>
        </p15:guide>
        <p15:guide id="3" pos="2752">
          <p15:clr>
            <a:srgbClr val="FBAE40"/>
          </p15:clr>
        </p15:guide>
        <p15:guide id="4" pos="4928">
          <p15:clr>
            <a:srgbClr val="FBAE40"/>
          </p15:clr>
        </p15:guide>
        <p15:guide id="5" pos="5216">
          <p15:clr>
            <a:srgbClr val="FBAE40"/>
          </p15:clr>
        </p15:guide>
        <p15:guide id="6" orient="horz" pos="118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s with heading" type="twoTxTwoObj">
  <p:cSld name="2 columns with heading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57200" y="384048"/>
            <a:ext cx="112776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57200" y="1399032"/>
            <a:ext cx="5410200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5pPr>
            <a:lvl6pPr marL="2743200" lvl="5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6pPr>
            <a:lvl7pPr marL="3200400" lvl="6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7pPr>
            <a:lvl8pPr marL="3657600" lvl="7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8pPr>
            <a:lvl9pPr marL="4114800" lvl="8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57200" y="1883664"/>
            <a:ext cx="5410200" cy="451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9pPr>
          </a:lstStyle>
          <a:p>
            <a:endParaRPr dirty="0"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6324600" y="1399032"/>
            <a:ext cx="5410200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5pPr>
            <a:lvl6pPr marL="2743200" lvl="5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6pPr>
            <a:lvl7pPr marL="3200400" lvl="6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7pPr>
            <a:lvl8pPr marL="3657600" lvl="7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8pPr>
            <a:lvl9pPr marL="4114800" lvl="8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6324600" y="1883664"/>
            <a:ext cx="5410200" cy="451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9pPr>
          </a:lstStyle>
          <a:p>
            <a:endParaRPr dirty="0"/>
          </a:p>
        </p:txBody>
      </p:sp>
      <p:pic>
        <p:nvPicPr>
          <p:cNvPr id="6" name="bjClassifierImageTop">
            <a:extLst>
              <a:ext uri="{FF2B5EF4-FFF2-40B4-BE49-F238E27FC236}">
                <a16:creationId xmlns:a16="http://schemas.microsoft.com/office/drawing/2014/main" id="{2CD6CC52-1314-B6F6-5229-D547182A0894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72038" y="63500"/>
            <a:ext cx="244792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53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  <p15:guide id="4" orient="horz" pos="11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s 1/3 split" userDrawn="1">
  <p:cSld name="2 columns 1/3 spli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457200" y="384048"/>
            <a:ext cx="11274552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457200" y="1399032"/>
            <a:ext cx="3454400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5pPr>
            <a:lvl6pPr marL="2743200" lvl="5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6pPr>
            <a:lvl7pPr marL="3200400" lvl="6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7pPr>
            <a:lvl8pPr marL="3657600" lvl="7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8pPr>
            <a:lvl9pPr marL="4114800" lvl="8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457200" y="1883664"/>
            <a:ext cx="3454400" cy="436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9pPr>
          </a:lstStyle>
          <a:p>
            <a:endParaRPr dirty="0"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3"/>
          </p:nvPr>
        </p:nvSpPr>
        <p:spPr>
          <a:xfrm>
            <a:off x="4368799" y="1399032"/>
            <a:ext cx="7366000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5pPr>
            <a:lvl6pPr marL="2743200" lvl="5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6pPr>
            <a:lvl7pPr marL="3200400" lvl="6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7pPr>
            <a:lvl8pPr marL="3657600" lvl="7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8pPr>
            <a:lvl9pPr marL="4114800" lvl="8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4"/>
          </p:nvPr>
        </p:nvSpPr>
        <p:spPr>
          <a:xfrm>
            <a:off x="4368799" y="1883664"/>
            <a:ext cx="7366000" cy="436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9pPr>
          </a:lstStyle>
          <a:p>
            <a:endParaRPr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028F2D-6646-D728-B4E3-EFC8C8D48D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indent="-317500" algn="l">
              <a:spcBef>
                <a:spcPts val="600"/>
              </a:spcBef>
              <a:buClr>
                <a:schemeClr val="dk1"/>
              </a:buClr>
              <a:buSzPts val="1400"/>
            </a:pPr>
            <a:r>
              <a:rPr lang="en-US"/>
              <a:t>Source: Ministry of investment, S&amp;P, OECD, UN, Worldbank, WEF, EIU, IMF, ILO, UN</a:t>
            </a:r>
            <a:endParaRPr lang="en-US" dirty="0"/>
          </a:p>
        </p:txBody>
      </p:sp>
      <p:pic>
        <p:nvPicPr>
          <p:cNvPr id="5" name="bjClassifierImageTop">
            <a:extLst>
              <a:ext uri="{FF2B5EF4-FFF2-40B4-BE49-F238E27FC236}">
                <a16:creationId xmlns:a16="http://schemas.microsoft.com/office/drawing/2014/main" id="{89A3BC2B-D84B-D442-965A-8E17D1706F8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72038" y="63500"/>
            <a:ext cx="244792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24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  <p15:guide id="2" pos="2464">
          <p15:clr>
            <a:srgbClr val="FBAE40"/>
          </p15:clr>
        </p15:guide>
        <p15:guide id="3" pos="2752">
          <p15:clr>
            <a:srgbClr val="FBAE40"/>
          </p15:clr>
        </p15:guide>
        <p15:guide id="4" orient="horz" pos="118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ing">
  <p:cSld name="Heading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457200" y="384048"/>
            <a:ext cx="112776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457200" y="1399032"/>
            <a:ext cx="11277600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5pPr>
            <a:lvl6pPr marL="2743200" lvl="5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6pPr>
            <a:lvl7pPr marL="3200400" lvl="6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7pPr>
            <a:lvl8pPr marL="3657600" lvl="7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8pPr>
            <a:lvl9pPr marL="4114800" lvl="8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​"/>
              <a:defRPr sz="14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pic>
        <p:nvPicPr>
          <p:cNvPr id="3" name="bjClassifierImageTop">
            <a:extLst>
              <a:ext uri="{FF2B5EF4-FFF2-40B4-BE49-F238E27FC236}">
                <a16:creationId xmlns:a16="http://schemas.microsoft.com/office/drawing/2014/main" id="{A8DE5DFB-798F-8A23-FCEF-DB300669DE3B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72038" y="63500"/>
            <a:ext cx="244792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834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  <p15:guide id="2" orient="horz" pos="118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FC27923-0CE4-E116-BDCB-C4F0E4C0C8C3}"/>
              </a:ext>
            </a:extLst>
          </p:cNvPr>
          <p:cNvGraphicFramePr>
            <a:graphicFrameLocks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3126925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95" imgH="396" progId="TCLayout.ActiveDocument.1">
                  <p:embed/>
                </p:oleObj>
              </mc:Choice>
              <mc:Fallback>
                <p:oleObj name="think-cell Slide" r:id="rId12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C27923-0CE4-E116-BDCB-C4F0E4C0C8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bg 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999344" y="6361976"/>
            <a:ext cx="1140434" cy="3250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2036" y="200405"/>
            <a:ext cx="2148840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00704D"/>
                </a:solidFill>
                <a:latin typeface="Sakkal Majalla"/>
                <a:cs typeface="Sakkal Majall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912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  <p:sldLayoutId id="2147483670" r:id="rId8"/>
    <p:sldLayoutId id="2147483671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22.png"/><Relationship Id="rId5" Type="http://schemas.openxmlformats.org/officeDocument/2006/relationships/image" Target="../media/image21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E337B-4ACB-F980-9ED4-8A0CDD3A9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spc="-25" dirty="0">
                <a:solidFill>
                  <a:srgbClr val="246742"/>
                </a:solidFill>
              </a:rPr>
              <a:t>The Olayan Group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4ADFCD-DC60-D304-6786-4245DB90C4DD}"/>
              </a:ext>
            </a:extLst>
          </p:cNvPr>
          <p:cNvSpPr/>
          <p:nvPr/>
        </p:nvSpPr>
        <p:spPr>
          <a:xfrm>
            <a:off x="425262" y="1161202"/>
            <a:ext cx="3486338" cy="40953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kern="0" dirty="0">
                <a:solidFill>
                  <a:srgbClr val="2467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Company Profile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24674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5701;p172">
            <a:extLst>
              <a:ext uri="{FF2B5EF4-FFF2-40B4-BE49-F238E27FC236}">
                <a16:creationId xmlns:a16="http://schemas.microsoft.com/office/drawing/2014/main" id="{708DB9D0-A60C-FE08-0484-02DDBBA60451}"/>
              </a:ext>
            </a:extLst>
          </p:cNvPr>
          <p:cNvSpPr/>
          <p:nvPr/>
        </p:nvSpPr>
        <p:spPr>
          <a:xfrm>
            <a:off x="453726" y="1582953"/>
            <a:ext cx="3461350" cy="12391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24674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25400" dir="4200009" sx="101000" sy="101000" rotWithShape="0">
              <a:srgbClr val="000000">
                <a:alpha val="14901"/>
              </a:srgbClr>
            </a:outerShdw>
          </a:effectLst>
        </p:spPr>
        <p:txBody>
          <a:bodyPr spcFirstLastPara="1" wrap="square" lIns="73150" tIns="73150" rIns="73150" bIns="73150" anchor="t" anchorCtr="0">
            <a:noAutofit/>
          </a:bodyPr>
          <a:lstStyle/>
          <a:p>
            <a:pPr marL="1714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5463"/>
              </a:buClr>
              <a:buSzPts val="1000"/>
              <a:buFont typeface="Times New Roman"/>
              <a:buNone/>
            </a:pPr>
            <a:r>
              <a:rPr lang="en-GB" sz="1200" b="1" i="0" u="none" strike="noStrike" cap="none" dirty="0">
                <a:solidFill>
                  <a:srgbClr val="095463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Description</a:t>
            </a:r>
          </a:p>
        </p:txBody>
      </p:sp>
      <p:sp>
        <p:nvSpPr>
          <p:cNvPr id="12" name="Google Shape;5703;p172">
            <a:extLst>
              <a:ext uri="{FF2B5EF4-FFF2-40B4-BE49-F238E27FC236}">
                <a16:creationId xmlns:a16="http://schemas.microsoft.com/office/drawing/2014/main" id="{73C9B520-72A1-17BD-9548-899D0A1A455D}"/>
              </a:ext>
            </a:extLst>
          </p:cNvPr>
          <p:cNvSpPr/>
          <p:nvPr/>
        </p:nvSpPr>
        <p:spPr>
          <a:xfrm rot="5400000">
            <a:off x="463954" y="1626331"/>
            <a:ext cx="211760" cy="2322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6742"/>
          </a:solidFill>
          <a:ln>
            <a:solidFill>
              <a:srgbClr val="246742"/>
            </a:solidFill>
          </a:ln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21" name="Google Shape;5701;p172">
            <a:extLst>
              <a:ext uri="{FF2B5EF4-FFF2-40B4-BE49-F238E27FC236}">
                <a16:creationId xmlns:a16="http://schemas.microsoft.com/office/drawing/2014/main" id="{6297855E-A8D5-C547-EC6F-DDA670279962}"/>
              </a:ext>
            </a:extLst>
          </p:cNvPr>
          <p:cNvSpPr/>
          <p:nvPr/>
        </p:nvSpPr>
        <p:spPr>
          <a:xfrm>
            <a:off x="453726" y="2875276"/>
            <a:ext cx="3461350" cy="113513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24674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25400" dir="4200009" sx="101000" sy="101000" rotWithShape="0">
              <a:srgbClr val="000000">
                <a:alpha val="14901"/>
              </a:srgbClr>
            </a:outerShdw>
          </a:effectLst>
        </p:spPr>
        <p:txBody>
          <a:bodyPr spcFirstLastPara="1" wrap="square" lIns="73150" tIns="73150" rIns="73150" bIns="73150" anchor="t" anchorCtr="0">
            <a:noAutofit/>
          </a:bodyPr>
          <a:lstStyle/>
          <a:p>
            <a:pPr marL="1714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5463"/>
              </a:buClr>
              <a:buSzPts val="1000"/>
              <a:buFont typeface="Times New Roman"/>
              <a:buNone/>
            </a:pPr>
            <a:r>
              <a:rPr lang="en-GB" sz="1200" b="1" i="0" u="none" strike="noStrike" cap="none" dirty="0">
                <a:solidFill>
                  <a:srgbClr val="095463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Sectors Covered</a:t>
            </a:r>
          </a:p>
          <a:p>
            <a:pPr marL="12700" lvl="0">
              <a:spcBef>
                <a:spcPts val="509"/>
              </a:spcBef>
              <a:tabLst>
                <a:tab pos="157480" algn="l"/>
              </a:tabLst>
              <a:defRPr/>
            </a:pPr>
            <a:r>
              <a:rPr lang="en-US" sz="1000" kern="0" dirty="0">
                <a:latin typeface="Arial" panose="020B0604020202020204" pitchFamily="34" charset="0"/>
                <a:cs typeface="Arial" panose="020B0604020202020204" pitchFamily="34" charset="0"/>
              </a:rPr>
              <a:t>..</a:t>
            </a:r>
          </a:p>
        </p:txBody>
      </p:sp>
      <p:sp>
        <p:nvSpPr>
          <p:cNvPr id="23" name="Google Shape;5703;p172">
            <a:extLst>
              <a:ext uri="{FF2B5EF4-FFF2-40B4-BE49-F238E27FC236}">
                <a16:creationId xmlns:a16="http://schemas.microsoft.com/office/drawing/2014/main" id="{57E4F136-4A42-98E4-DC66-C1AB1768B038}"/>
              </a:ext>
            </a:extLst>
          </p:cNvPr>
          <p:cNvSpPr/>
          <p:nvPr/>
        </p:nvSpPr>
        <p:spPr>
          <a:xfrm rot="5400000">
            <a:off x="463954" y="2954013"/>
            <a:ext cx="211760" cy="2322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6742"/>
          </a:solidFill>
          <a:ln>
            <a:solidFill>
              <a:srgbClr val="246742"/>
            </a:solidFill>
          </a:ln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27" name="Google Shape;5701;p172">
            <a:extLst>
              <a:ext uri="{FF2B5EF4-FFF2-40B4-BE49-F238E27FC236}">
                <a16:creationId xmlns:a16="http://schemas.microsoft.com/office/drawing/2014/main" id="{8C44354F-3220-AD0D-0A5C-6684C0DD1385}"/>
              </a:ext>
            </a:extLst>
          </p:cNvPr>
          <p:cNvSpPr/>
          <p:nvPr/>
        </p:nvSpPr>
        <p:spPr>
          <a:xfrm>
            <a:off x="453726" y="4063620"/>
            <a:ext cx="3461350" cy="8300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24674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25400" dir="4200009" sx="101000" sy="101000" rotWithShape="0">
              <a:srgbClr val="000000">
                <a:alpha val="14901"/>
              </a:srgbClr>
            </a:outerShdw>
          </a:effectLst>
        </p:spPr>
        <p:txBody>
          <a:bodyPr spcFirstLastPara="1" wrap="square" lIns="73150" tIns="73150" rIns="73150" bIns="73150" anchor="t" anchorCtr="0">
            <a:noAutofit/>
          </a:bodyPr>
          <a:lstStyle/>
          <a:p>
            <a:pPr marL="1714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5463"/>
              </a:buClr>
              <a:buSzPts val="1000"/>
              <a:buFont typeface="Times New Roman"/>
              <a:buNone/>
            </a:pPr>
            <a:r>
              <a:rPr lang="en-GB" sz="1200" b="1" i="0" u="none" strike="noStrike" cap="none" dirty="0">
                <a:solidFill>
                  <a:srgbClr val="095463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Company HQ</a:t>
            </a:r>
          </a:p>
          <a:p>
            <a:pPr marL="184150" lvl="0" indent="-171450">
              <a:spcBef>
                <a:spcPts val="509"/>
              </a:spcBef>
              <a:buFont typeface="Arial" panose="020B0604020202020204" pitchFamily="34" charset="0"/>
              <a:buChar char="•"/>
              <a:tabLst>
                <a:tab pos="157480" algn="l"/>
              </a:tabLst>
              <a:defRPr/>
            </a:pPr>
            <a:r>
              <a:rPr lang="en-US" sz="1000" b="1" kern="0" dirty="0">
                <a:latin typeface="Arial" panose="020B0604020202020204" pitchFamily="34" charset="0"/>
                <a:cs typeface="Arial" panose="020B0604020202020204" pitchFamily="34" charset="0"/>
              </a:rPr>
              <a:t>….</a:t>
            </a:r>
          </a:p>
        </p:txBody>
      </p:sp>
      <p:sp>
        <p:nvSpPr>
          <p:cNvPr id="29" name="Google Shape;5703;p172">
            <a:extLst>
              <a:ext uri="{FF2B5EF4-FFF2-40B4-BE49-F238E27FC236}">
                <a16:creationId xmlns:a16="http://schemas.microsoft.com/office/drawing/2014/main" id="{FC71B520-37EE-3E0D-2354-6AC6242C3BF9}"/>
              </a:ext>
            </a:extLst>
          </p:cNvPr>
          <p:cNvSpPr/>
          <p:nvPr/>
        </p:nvSpPr>
        <p:spPr>
          <a:xfrm rot="5400000">
            <a:off x="463954" y="4142357"/>
            <a:ext cx="211760" cy="2322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6742"/>
          </a:solidFill>
          <a:ln>
            <a:solidFill>
              <a:srgbClr val="246742"/>
            </a:solidFill>
          </a:ln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94" name="Google Shape;5701;p172">
            <a:extLst>
              <a:ext uri="{FF2B5EF4-FFF2-40B4-BE49-F238E27FC236}">
                <a16:creationId xmlns:a16="http://schemas.microsoft.com/office/drawing/2014/main" id="{D015CBBF-57F0-48EB-B579-C6A2732E5355}"/>
              </a:ext>
            </a:extLst>
          </p:cNvPr>
          <p:cNvSpPr/>
          <p:nvPr/>
        </p:nvSpPr>
        <p:spPr>
          <a:xfrm>
            <a:off x="453726" y="5471102"/>
            <a:ext cx="1673991" cy="47103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24674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25400" dir="4200009" sx="101000" sy="101000" rotWithShape="0">
              <a:srgbClr val="000000">
                <a:alpha val="14901"/>
              </a:srgbClr>
            </a:outerShdw>
          </a:effectLst>
        </p:spPr>
        <p:txBody>
          <a:bodyPr spcFirstLastPara="1" wrap="square" lIns="73150" tIns="73150" rIns="73150" bIns="73150" anchor="t" anchorCtr="0">
            <a:noAutofit/>
          </a:bodyPr>
          <a:lstStyle/>
          <a:p>
            <a:pPr marL="1714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5463"/>
              </a:buClr>
              <a:buSzPts val="1000"/>
              <a:buFont typeface="Times New Roman"/>
              <a:buNone/>
            </a:pPr>
            <a:r>
              <a:rPr lang="en-GB" sz="1200" b="1" i="0" u="none" strike="noStrike" cap="none" dirty="0">
                <a:solidFill>
                  <a:srgbClr val="095463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Employee #</a:t>
            </a:r>
          </a:p>
          <a:p>
            <a:pPr marL="1714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5463"/>
              </a:buClr>
              <a:buSzPts val="1000"/>
              <a:buFont typeface="Times New Roman"/>
              <a:buNone/>
            </a:pPr>
            <a:r>
              <a:rPr lang="en-US" sz="900" b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) globally</a:t>
            </a:r>
            <a:r>
              <a:rPr lang="en-US" sz="900" b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GB" sz="1200" b="1" i="0" u="none" strike="noStrike" cap="none" dirty="0">
              <a:solidFill>
                <a:srgbClr val="095463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0" name="Google Shape;5703;p172">
            <a:extLst>
              <a:ext uri="{FF2B5EF4-FFF2-40B4-BE49-F238E27FC236}">
                <a16:creationId xmlns:a16="http://schemas.microsoft.com/office/drawing/2014/main" id="{5AA9C5C7-4E7C-CB2B-B574-390B8BA4593B}"/>
              </a:ext>
            </a:extLst>
          </p:cNvPr>
          <p:cNvSpPr/>
          <p:nvPr/>
        </p:nvSpPr>
        <p:spPr>
          <a:xfrm rot="5400000">
            <a:off x="463954" y="5549839"/>
            <a:ext cx="211760" cy="2322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6742"/>
          </a:solidFill>
          <a:ln>
            <a:solidFill>
              <a:srgbClr val="246742"/>
            </a:solidFill>
          </a:ln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96" name="Google Shape;5701;p172">
            <a:extLst>
              <a:ext uri="{FF2B5EF4-FFF2-40B4-BE49-F238E27FC236}">
                <a16:creationId xmlns:a16="http://schemas.microsoft.com/office/drawing/2014/main" id="{F00A7C8A-4EBB-3A37-B0E4-D3FC34B20A10}"/>
              </a:ext>
            </a:extLst>
          </p:cNvPr>
          <p:cNvSpPr/>
          <p:nvPr/>
        </p:nvSpPr>
        <p:spPr>
          <a:xfrm>
            <a:off x="2241085" y="5471102"/>
            <a:ext cx="1673991" cy="47103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24674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25400" dir="4200009" sx="101000" sy="101000" rotWithShape="0">
              <a:srgbClr val="000000">
                <a:alpha val="14901"/>
              </a:srgbClr>
            </a:outerShdw>
          </a:effectLst>
        </p:spPr>
        <p:txBody>
          <a:bodyPr spcFirstLastPara="1" wrap="square" lIns="73150" tIns="73150" rIns="73150" bIns="73150" anchor="t" anchorCtr="0">
            <a:noAutofit/>
          </a:bodyPr>
          <a:lstStyle/>
          <a:p>
            <a:pPr marL="1714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5463"/>
              </a:buClr>
              <a:buSzPts val="1000"/>
              <a:buFont typeface="Times New Roman"/>
              <a:buNone/>
            </a:pPr>
            <a:r>
              <a:rPr lang="en-GB" sz="1200" b="1" i="0" u="none" strike="noStrike" cap="none" dirty="0">
                <a:solidFill>
                  <a:srgbClr val="095463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Revenue</a:t>
            </a:r>
          </a:p>
        </p:txBody>
      </p:sp>
      <p:sp>
        <p:nvSpPr>
          <p:cNvPr id="98" name="Google Shape;5703;p172">
            <a:extLst>
              <a:ext uri="{FF2B5EF4-FFF2-40B4-BE49-F238E27FC236}">
                <a16:creationId xmlns:a16="http://schemas.microsoft.com/office/drawing/2014/main" id="{97BEA26C-B1A2-CD49-830B-54C09875C227}"/>
              </a:ext>
            </a:extLst>
          </p:cNvPr>
          <p:cNvSpPr/>
          <p:nvPr/>
        </p:nvSpPr>
        <p:spPr>
          <a:xfrm rot="5400000">
            <a:off x="2251313" y="5549839"/>
            <a:ext cx="211760" cy="2322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6742"/>
          </a:solidFill>
          <a:ln>
            <a:solidFill>
              <a:srgbClr val="246742"/>
            </a:solidFill>
          </a:ln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0B7B0A-DDC1-F900-7964-EC4F341A4043}"/>
              </a:ext>
            </a:extLst>
          </p:cNvPr>
          <p:cNvSpPr txBox="1"/>
          <p:nvPr/>
        </p:nvSpPr>
        <p:spPr>
          <a:xfrm>
            <a:off x="2590029" y="1374607"/>
            <a:ext cx="132156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1" u="none" strike="noStrike" kern="0" cap="none" spc="0" normalizeH="0" baseline="0" noProof="0" dirty="0">
                <a:ln>
                  <a:noFill/>
                </a:ln>
                <a:solidFill>
                  <a:srgbClr val="00633B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Year</a:t>
            </a:r>
            <a:r>
              <a:rPr kumimoji="0" lang="en-US" sz="900" i="1" u="none" strike="noStrike" kern="0" cap="none" spc="-50" normalizeH="0" baseline="0" noProof="0" dirty="0">
                <a:ln>
                  <a:noFill/>
                </a:ln>
                <a:solidFill>
                  <a:srgbClr val="00633B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900" i="1" u="none" strike="noStrike" kern="0" cap="none" spc="0" normalizeH="0" baseline="0" noProof="0" dirty="0">
                <a:ln>
                  <a:noFill/>
                </a:ln>
                <a:solidFill>
                  <a:srgbClr val="00633B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Founded: </a:t>
            </a:r>
            <a:r>
              <a:rPr kumimoji="0" lang="en-US" sz="900" i="1" u="none" strike="noStrike" kern="0" cap="none" spc="0" normalizeH="0" baseline="0" noProof="0" dirty="0">
                <a:ln>
                  <a:noFill/>
                </a:ln>
                <a:solidFill>
                  <a:srgbClr val="24674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..  </a:t>
            </a:r>
          </a:p>
        </p:txBody>
      </p:sp>
      <p:sp>
        <p:nvSpPr>
          <p:cNvPr id="59" name="Google Shape;5701;p172">
            <a:extLst>
              <a:ext uri="{FF2B5EF4-FFF2-40B4-BE49-F238E27FC236}">
                <a16:creationId xmlns:a16="http://schemas.microsoft.com/office/drawing/2014/main" id="{16EC398F-1282-703B-6AD0-DDAA41AA215E}"/>
              </a:ext>
            </a:extLst>
          </p:cNvPr>
          <p:cNvSpPr/>
          <p:nvPr/>
        </p:nvSpPr>
        <p:spPr>
          <a:xfrm>
            <a:off x="453726" y="4946856"/>
            <a:ext cx="1673991" cy="47103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24674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25400" dir="4200009" sx="101000" sy="101000" rotWithShape="0">
              <a:srgbClr val="000000">
                <a:alpha val="14901"/>
              </a:srgbClr>
            </a:outerShdw>
          </a:effectLst>
        </p:spPr>
        <p:txBody>
          <a:bodyPr spcFirstLastPara="1" wrap="square" lIns="73150" tIns="73150" rIns="73150" bIns="73150" anchor="t" anchorCtr="0">
            <a:noAutofit/>
          </a:bodyPr>
          <a:lstStyle/>
          <a:p>
            <a:pPr marL="1714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5463"/>
              </a:buClr>
              <a:buSzPts val="1000"/>
              <a:buFont typeface="Times New Roman"/>
              <a:buNone/>
            </a:pPr>
            <a:r>
              <a:rPr lang="en-GB" sz="1200" b="1" i="0" u="none" strike="noStrike" cap="none" dirty="0">
                <a:solidFill>
                  <a:srgbClr val="095463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Global branches </a:t>
            </a:r>
          </a:p>
        </p:txBody>
      </p:sp>
      <p:sp>
        <p:nvSpPr>
          <p:cNvPr id="61" name="Google Shape;5703;p172">
            <a:extLst>
              <a:ext uri="{FF2B5EF4-FFF2-40B4-BE49-F238E27FC236}">
                <a16:creationId xmlns:a16="http://schemas.microsoft.com/office/drawing/2014/main" id="{7AC1FE7F-2C1D-523F-402B-C289A0B9DE87}"/>
              </a:ext>
            </a:extLst>
          </p:cNvPr>
          <p:cNvSpPr/>
          <p:nvPr/>
        </p:nvSpPr>
        <p:spPr>
          <a:xfrm rot="5400000">
            <a:off x="463954" y="5025593"/>
            <a:ext cx="211760" cy="2322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6742"/>
          </a:solidFill>
          <a:ln>
            <a:solidFill>
              <a:srgbClr val="246742"/>
            </a:solidFill>
          </a:ln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4" name="Google Shape;5701;p172">
            <a:extLst>
              <a:ext uri="{FF2B5EF4-FFF2-40B4-BE49-F238E27FC236}">
                <a16:creationId xmlns:a16="http://schemas.microsoft.com/office/drawing/2014/main" id="{B8FCAA21-9B33-FBD0-F72A-BADC2438282F}"/>
              </a:ext>
            </a:extLst>
          </p:cNvPr>
          <p:cNvSpPr/>
          <p:nvPr/>
        </p:nvSpPr>
        <p:spPr>
          <a:xfrm>
            <a:off x="2241085" y="4946856"/>
            <a:ext cx="1673991" cy="47103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24674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25400" dir="4200009" sx="101000" sy="101000" rotWithShape="0">
              <a:srgbClr val="000000">
                <a:alpha val="14901"/>
              </a:srgbClr>
            </a:outerShdw>
          </a:effectLst>
        </p:spPr>
        <p:txBody>
          <a:bodyPr spcFirstLastPara="1" wrap="square" lIns="73150" tIns="73150" rIns="73150" bIns="73150" anchor="t" anchorCtr="0">
            <a:noAutofit/>
          </a:bodyPr>
          <a:lstStyle/>
          <a:p>
            <a:pPr marL="1714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5463"/>
              </a:buClr>
              <a:buSzPts val="1000"/>
              <a:buFont typeface="Times New Roman"/>
              <a:buNone/>
            </a:pPr>
            <a:r>
              <a:rPr lang="en-GB" sz="1200" b="1" i="0" u="none" strike="noStrike" cap="none" dirty="0">
                <a:solidFill>
                  <a:srgbClr val="095463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Company Size</a:t>
            </a:r>
          </a:p>
        </p:txBody>
      </p:sp>
      <p:sp>
        <p:nvSpPr>
          <p:cNvPr id="66" name="Google Shape;5703;p172">
            <a:extLst>
              <a:ext uri="{FF2B5EF4-FFF2-40B4-BE49-F238E27FC236}">
                <a16:creationId xmlns:a16="http://schemas.microsoft.com/office/drawing/2014/main" id="{07B97522-1DB3-6942-B27E-7228E0C68E86}"/>
              </a:ext>
            </a:extLst>
          </p:cNvPr>
          <p:cNvSpPr/>
          <p:nvPr/>
        </p:nvSpPr>
        <p:spPr>
          <a:xfrm rot="5400000">
            <a:off x="2251313" y="5025593"/>
            <a:ext cx="211760" cy="2322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6742"/>
          </a:solidFill>
          <a:ln>
            <a:solidFill>
              <a:srgbClr val="246742"/>
            </a:solidFill>
          </a:ln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BB1C15A-C2C4-1E90-7F30-0AE00F501722}"/>
              </a:ext>
            </a:extLst>
          </p:cNvPr>
          <p:cNvSpPr/>
          <p:nvPr/>
        </p:nvSpPr>
        <p:spPr>
          <a:xfrm>
            <a:off x="2492147" y="5224771"/>
            <a:ext cx="318519" cy="14630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Micro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77D00C9-5C06-529F-6754-1FDD5F4CD0A3}"/>
              </a:ext>
            </a:extLst>
          </p:cNvPr>
          <p:cNvSpPr/>
          <p:nvPr/>
        </p:nvSpPr>
        <p:spPr>
          <a:xfrm>
            <a:off x="2829799" y="5224771"/>
            <a:ext cx="318519" cy="14630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Small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65ECB34-D461-3F76-D74D-69BE07A24FBE}"/>
              </a:ext>
            </a:extLst>
          </p:cNvPr>
          <p:cNvSpPr/>
          <p:nvPr/>
        </p:nvSpPr>
        <p:spPr>
          <a:xfrm>
            <a:off x="3167451" y="5224771"/>
            <a:ext cx="318519" cy="14630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Medium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CA20C51-0D2C-1B2D-1118-2FD6AFDDF854}"/>
              </a:ext>
            </a:extLst>
          </p:cNvPr>
          <p:cNvSpPr/>
          <p:nvPr/>
        </p:nvSpPr>
        <p:spPr>
          <a:xfrm>
            <a:off x="3505103" y="5224771"/>
            <a:ext cx="318519" cy="14630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00" kern="0" dirty="0">
                <a:solidFill>
                  <a:prstClr val="white">
                    <a:lumMod val="7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DE18653-8C12-3B74-BB54-3607C300E46C}"/>
              </a:ext>
            </a:extLst>
          </p:cNvPr>
          <p:cNvSpPr/>
          <p:nvPr/>
        </p:nvSpPr>
        <p:spPr>
          <a:xfrm>
            <a:off x="694462" y="5224771"/>
            <a:ext cx="441731" cy="14630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 kern="0" dirty="0">
                <a:solidFill>
                  <a:prstClr val="white">
                    <a:lumMod val="7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6E3FA005-5F23-A92C-BCE6-5E2C05F2B12A}"/>
              </a:ext>
            </a:extLst>
          </p:cNvPr>
          <p:cNvSpPr/>
          <p:nvPr/>
        </p:nvSpPr>
        <p:spPr>
          <a:xfrm>
            <a:off x="1107953" y="5229973"/>
            <a:ext cx="438982" cy="14110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103" name="Google Shape;5701;p172">
            <a:extLst>
              <a:ext uri="{FF2B5EF4-FFF2-40B4-BE49-F238E27FC236}">
                <a16:creationId xmlns:a16="http://schemas.microsoft.com/office/drawing/2014/main" id="{5F74CAF1-1C31-B125-A5ED-B6161885C877}"/>
              </a:ext>
            </a:extLst>
          </p:cNvPr>
          <p:cNvSpPr/>
          <p:nvPr/>
        </p:nvSpPr>
        <p:spPr>
          <a:xfrm>
            <a:off x="453726" y="5995349"/>
            <a:ext cx="1673991" cy="47103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24674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25400" dir="4200009" sx="101000" sy="101000" rotWithShape="0">
              <a:srgbClr val="000000">
                <a:alpha val="14901"/>
              </a:srgbClr>
            </a:outerShdw>
          </a:effectLst>
        </p:spPr>
        <p:txBody>
          <a:bodyPr spcFirstLastPara="1" wrap="square" lIns="73150" tIns="73150" rIns="73150" bIns="73150" anchor="t" anchorCtr="0">
            <a:noAutofit/>
          </a:bodyPr>
          <a:lstStyle/>
          <a:p>
            <a:pPr marL="1714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5463"/>
              </a:buClr>
              <a:buSzPts val="1000"/>
              <a:buFont typeface="Times New Roman"/>
              <a:buNone/>
            </a:pPr>
            <a:r>
              <a:rPr lang="en-GB" sz="1200" b="1" i="0" u="none" strike="noStrike" cap="none" dirty="0">
                <a:solidFill>
                  <a:srgbClr val="095463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Engaged with HE</a:t>
            </a:r>
          </a:p>
        </p:txBody>
      </p:sp>
      <p:sp>
        <p:nvSpPr>
          <p:cNvPr id="109" name="Google Shape;5703;p172">
            <a:extLst>
              <a:ext uri="{FF2B5EF4-FFF2-40B4-BE49-F238E27FC236}">
                <a16:creationId xmlns:a16="http://schemas.microsoft.com/office/drawing/2014/main" id="{55EEB963-49F2-E2A9-990D-588FDE7E4BBE}"/>
              </a:ext>
            </a:extLst>
          </p:cNvPr>
          <p:cNvSpPr/>
          <p:nvPr/>
        </p:nvSpPr>
        <p:spPr>
          <a:xfrm rot="5400000">
            <a:off x="463954" y="6074086"/>
            <a:ext cx="211760" cy="2322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6742"/>
          </a:solidFill>
          <a:ln>
            <a:solidFill>
              <a:srgbClr val="246742"/>
            </a:solidFill>
          </a:ln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5" name="Google Shape;5701;p172">
            <a:extLst>
              <a:ext uri="{FF2B5EF4-FFF2-40B4-BE49-F238E27FC236}">
                <a16:creationId xmlns:a16="http://schemas.microsoft.com/office/drawing/2014/main" id="{C62654B3-0711-F4B9-9DDA-5D7932C8756C}"/>
              </a:ext>
            </a:extLst>
          </p:cNvPr>
          <p:cNvSpPr/>
          <p:nvPr/>
        </p:nvSpPr>
        <p:spPr>
          <a:xfrm>
            <a:off x="2241085" y="5995349"/>
            <a:ext cx="1673991" cy="47103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24674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25400" dir="4200009" sx="101000" sy="101000" rotWithShape="0">
              <a:srgbClr val="000000">
                <a:alpha val="14901"/>
              </a:srgbClr>
            </a:outerShdw>
          </a:effectLst>
        </p:spPr>
        <p:txBody>
          <a:bodyPr spcFirstLastPara="1" wrap="square" lIns="73150" tIns="73150" rIns="0" bIns="73150" anchor="t" anchorCtr="0">
            <a:noAutofit/>
          </a:bodyPr>
          <a:lstStyle/>
          <a:p>
            <a:pPr marL="1714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5463"/>
              </a:buClr>
              <a:buSzPts val="1000"/>
              <a:buFont typeface="Times New Roman"/>
              <a:buNone/>
            </a:pPr>
            <a:r>
              <a:rPr lang="en-GB" sz="1200" b="1" i="0" u="none" strike="noStrike" cap="none" spc="-30" dirty="0">
                <a:solidFill>
                  <a:srgbClr val="095463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Engaged with MISA</a:t>
            </a:r>
          </a:p>
        </p:txBody>
      </p:sp>
      <p:sp>
        <p:nvSpPr>
          <p:cNvPr id="107" name="Google Shape;5703;p172">
            <a:extLst>
              <a:ext uri="{FF2B5EF4-FFF2-40B4-BE49-F238E27FC236}">
                <a16:creationId xmlns:a16="http://schemas.microsoft.com/office/drawing/2014/main" id="{7D9C95FD-1CA9-1B38-41CF-73B9C20E80FC}"/>
              </a:ext>
            </a:extLst>
          </p:cNvPr>
          <p:cNvSpPr/>
          <p:nvPr/>
        </p:nvSpPr>
        <p:spPr>
          <a:xfrm rot="5400000">
            <a:off x="2251313" y="6074086"/>
            <a:ext cx="211760" cy="2322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6742"/>
          </a:solidFill>
          <a:ln>
            <a:solidFill>
              <a:srgbClr val="246742"/>
            </a:solidFill>
          </a:ln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D44656DD-90EB-6CCC-C56F-6D8D9C3D8F40}"/>
              </a:ext>
            </a:extLst>
          </p:cNvPr>
          <p:cNvGrpSpPr/>
          <p:nvPr/>
        </p:nvGrpSpPr>
        <p:grpSpPr>
          <a:xfrm>
            <a:off x="694462" y="6276041"/>
            <a:ext cx="1166073" cy="146304"/>
            <a:chOff x="7191867" y="5639185"/>
            <a:chExt cx="1707247" cy="257571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5B91B4A1-BC72-80F8-3D67-854F3E38F5A8}"/>
                </a:ext>
              </a:extLst>
            </p:cNvPr>
            <p:cNvSpPr/>
            <p:nvPr/>
          </p:nvSpPr>
          <p:spPr>
            <a:xfrm>
              <a:off x="7191867" y="5639185"/>
              <a:ext cx="828733" cy="2575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000" kern="0" dirty="0">
                  <a:solidFill>
                    <a:prstClr val="white">
                      <a:lumMod val="7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Yes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14B4D162-CC80-88B1-9226-B897B28E9D27}"/>
                </a:ext>
              </a:extLst>
            </p:cNvPr>
            <p:cNvSpPr/>
            <p:nvPr/>
          </p:nvSpPr>
          <p:spPr>
            <a:xfrm>
              <a:off x="8070381" y="5639185"/>
              <a:ext cx="828733" cy="2575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No</a:t>
              </a: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67751F9-CC15-8F55-853B-CC693806F494}"/>
              </a:ext>
            </a:extLst>
          </p:cNvPr>
          <p:cNvGrpSpPr/>
          <p:nvPr/>
        </p:nvGrpSpPr>
        <p:grpSpPr>
          <a:xfrm>
            <a:off x="2498289" y="6276041"/>
            <a:ext cx="1166073" cy="146304"/>
            <a:chOff x="7191867" y="5639185"/>
            <a:chExt cx="1707247" cy="257571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E102381A-8D54-9E6C-2171-59089833DF74}"/>
                </a:ext>
              </a:extLst>
            </p:cNvPr>
            <p:cNvSpPr/>
            <p:nvPr/>
          </p:nvSpPr>
          <p:spPr>
            <a:xfrm>
              <a:off x="7191867" y="5639185"/>
              <a:ext cx="828733" cy="2575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000" kern="0" dirty="0">
                  <a:solidFill>
                    <a:prstClr val="white">
                      <a:lumMod val="7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Yes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073D574A-50B9-BB21-2C10-E861B9C8214C}"/>
                </a:ext>
              </a:extLst>
            </p:cNvPr>
            <p:cNvSpPr/>
            <p:nvPr/>
          </p:nvSpPr>
          <p:spPr>
            <a:xfrm>
              <a:off x="8070381" y="5639185"/>
              <a:ext cx="828733" cy="2575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No</a:t>
              </a:r>
            </a:p>
          </p:txBody>
        </p:sp>
      </p:grpSp>
      <p:sp>
        <p:nvSpPr>
          <p:cNvPr id="133" name="Rectangle 132">
            <a:extLst>
              <a:ext uri="{FF2B5EF4-FFF2-40B4-BE49-F238E27FC236}">
                <a16:creationId xmlns:a16="http://schemas.microsoft.com/office/drawing/2014/main" id="{D41B8C18-1898-099A-4DEE-B5D551B56405}"/>
              </a:ext>
            </a:extLst>
          </p:cNvPr>
          <p:cNvSpPr/>
          <p:nvPr/>
        </p:nvSpPr>
        <p:spPr>
          <a:xfrm>
            <a:off x="4368799" y="1161202"/>
            <a:ext cx="3486338" cy="40953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kern="0" dirty="0">
                <a:solidFill>
                  <a:srgbClr val="2467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Leadership Profile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24674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Google Shape;5701;p172">
            <a:extLst>
              <a:ext uri="{FF2B5EF4-FFF2-40B4-BE49-F238E27FC236}">
                <a16:creationId xmlns:a16="http://schemas.microsoft.com/office/drawing/2014/main" id="{3A19E1E1-C71A-F5F5-9B9E-AEAED4FC78F1}"/>
              </a:ext>
            </a:extLst>
          </p:cNvPr>
          <p:cNvSpPr/>
          <p:nvPr/>
        </p:nvSpPr>
        <p:spPr>
          <a:xfrm>
            <a:off x="4368800" y="1582953"/>
            <a:ext cx="3461350" cy="110599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24674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25400" dir="4200009" sx="101000" sy="101000" rotWithShape="0">
              <a:srgbClr val="000000">
                <a:alpha val="14901"/>
              </a:srgbClr>
            </a:outerShdw>
          </a:effectLst>
        </p:spPr>
        <p:txBody>
          <a:bodyPr spcFirstLastPara="1" wrap="square" lIns="73150" tIns="73150" rIns="73150" bIns="73150" anchor="t" anchorCtr="0">
            <a:noAutofit/>
          </a:bodyPr>
          <a:lstStyle/>
          <a:p>
            <a:pPr marL="1714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5463"/>
              </a:buClr>
              <a:buSzPts val="1000"/>
              <a:buFont typeface="Times New Roman"/>
              <a:buNone/>
            </a:pPr>
            <a:r>
              <a:rPr lang="en-GB" sz="1200" b="1" i="0" u="none" strike="noStrike" cap="none" dirty="0">
                <a:solidFill>
                  <a:srgbClr val="095463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Full Name:</a:t>
            </a:r>
          </a:p>
        </p:txBody>
      </p:sp>
      <p:sp>
        <p:nvSpPr>
          <p:cNvPr id="136" name="Google Shape;5703;p172">
            <a:extLst>
              <a:ext uri="{FF2B5EF4-FFF2-40B4-BE49-F238E27FC236}">
                <a16:creationId xmlns:a16="http://schemas.microsoft.com/office/drawing/2014/main" id="{E0A7D307-126F-EC45-27DD-F1CF3032C865}"/>
              </a:ext>
            </a:extLst>
          </p:cNvPr>
          <p:cNvSpPr/>
          <p:nvPr/>
        </p:nvSpPr>
        <p:spPr>
          <a:xfrm rot="5400000">
            <a:off x="4379028" y="1625966"/>
            <a:ext cx="211760" cy="2322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6742"/>
          </a:solidFill>
          <a:ln>
            <a:solidFill>
              <a:srgbClr val="246742"/>
            </a:solidFill>
          </a:ln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41" name="Google Shape;5701;p172">
            <a:extLst>
              <a:ext uri="{FF2B5EF4-FFF2-40B4-BE49-F238E27FC236}">
                <a16:creationId xmlns:a16="http://schemas.microsoft.com/office/drawing/2014/main" id="{45D5A02E-913C-966C-44ED-E6BFF02642C0}"/>
              </a:ext>
            </a:extLst>
          </p:cNvPr>
          <p:cNvSpPr/>
          <p:nvPr/>
        </p:nvSpPr>
        <p:spPr>
          <a:xfrm>
            <a:off x="4368800" y="2743504"/>
            <a:ext cx="3461350" cy="110599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24674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25400" dir="4200009" sx="101000" sy="101000" rotWithShape="0">
              <a:srgbClr val="000000">
                <a:alpha val="14901"/>
              </a:srgbClr>
            </a:outerShdw>
          </a:effectLst>
        </p:spPr>
        <p:txBody>
          <a:bodyPr spcFirstLastPara="1" wrap="square" lIns="73150" tIns="73150" rIns="73150" bIns="73150" anchor="t" anchorCtr="0">
            <a:noAutofit/>
          </a:bodyPr>
          <a:lstStyle/>
          <a:p>
            <a:pPr marL="1714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5463"/>
              </a:buClr>
              <a:buSzPts val="1000"/>
              <a:buFont typeface="Times New Roman"/>
              <a:buNone/>
            </a:pPr>
            <a:r>
              <a:rPr lang="en-GB" sz="1200" b="1" i="0" u="none" strike="noStrike" cap="none" dirty="0">
                <a:solidFill>
                  <a:srgbClr val="095463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Position:</a:t>
            </a:r>
          </a:p>
          <a:p>
            <a:pPr marL="1841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7480" algn="l"/>
              </a:tabLs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43" name="Google Shape;5703;p172">
            <a:extLst>
              <a:ext uri="{FF2B5EF4-FFF2-40B4-BE49-F238E27FC236}">
                <a16:creationId xmlns:a16="http://schemas.microsoft.com/office/drawing/2014/main" id="{E99B487A-3D60-8955-5BE5-373ACD94CB24}"/>
              </a:ext>
            </a:extLst>
          </p:cNvPr>
          <p:cNvSpPr/>
          <p:nvPr/>
        </p:nvSpPr>
        <p:spPr>
          <a:xfrm rot="5400000">
            <a:off x="4379028" y="2786517"/>
            <a:ext cx="211760" cy="2322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6742"/>
          </a:solidFill>
          <a:ln>
            <a:solidFill>
              <a:srgbClr val="246742"/>
            </a:solidFill>
          </a:ln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46" name="Google Shape;5701;p172">
            <a:extLst>
              <a:ext uri="{FF2B5EF4-FFF2-40B4-BE49-F238E27FC236}">
                <a16:creationId xmlns:a16="http://schemas.microsoft.com/office/drawing/2014/main" id="{B27B2BBF-232D-B0BE-C5C5-654752B794DD}"/>
              </a:ext>
            </a:extLst>
          </p:cNvPr>
          <p:cNvSpPr/>
          <p:nvPr/>
        </p:nvSpPr>
        <p:spPr>
          <a:xfrm>
            <a:off x="4368800" y="3904053"/>
            <a:ext cx="3461350" cy="256233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24674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25400" dir="4200009" sx="101000" sy="101000" rotWithShape="0">
              <a:srgbClr val="000000">
                <a:alpha val="14901"/>
              </a:srgbClr>
            </a:outerShdw>
          </a:effectLst>
        </p:spPr>
        <p:txBody>
          <a:bodyPr spcFirstLastPara="1" wrap="square" lIns="73150" tIns="73150" rIns="73150" bIns="73150" anchor="t" anchorCtr="0">
            <a:noAutofit/>
          </a:bodyPr>
          <a:lstStyle/>
          <a:p>
            <a:pPr marL="1714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5463"/>
              </a:buClr>
              <a:buSzPts val="1000"/>
              <a:buFont typeface="Times New Roman"/>
              <a:buNone/>
            </a:pPr>
            <a:r>
              <a:rPr lang="en-GB" sz="1200" b="1" i="0" u="none" strike="noStrike" cap="none" dirty="0">
                <a:solidFill>
                  <a:srgbClr val="095463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Biography:</a:t>
            </a:r>
          </a:p>
          <a:p>
            <a:pPr marL="184150" lvl="0" indent="-171450">
              <a:spcBef>
                <a:spcPts val="509"/>
              </a:spcBef>
              <a:buFont typeface="Arial" panose="020B0604020202020204" pitchFamily="34" charset="0"/>
              <a:buChar char="•"/>
              <a:tabLst>
                <a:tab pos="157480" algn="l"/>
              </a:tabLst>
              <a:defRPr/>
            </a:pPr>
            <a:r>
              <a:rPr lang="en-US" sz="1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….</a:t>
            </a:r>
          </a:p>
        </p:txBody>
      </p:sp>
      <p:sp>
        <p:nvSpPr>
          <p:cNvPr id="148" name="Google Shape;5703;p172">
            <a:extLst>
              <a:ext uri="{FF2B5EF4-FFF2-40B4-BE49-F238E27FC236}">
                <a16:creationId xmlns:a16="http://schemas.microsoft.com/office/drawing/2014/main" id="{9963009C-D0D6-2CDC-66D6-BAE0C788D39F}"/>
              </a:ext>
            </a:extLst>
          </p:cNvPr>
          <p:cNvSpPr/>
          <p:nvPr/>
        </p:nvSpPr>
        <p:spPr>
          <a:xfrm rot="5400000">
            <a:off x="4379028" y="3947067"/>
            <a:ext cx="211760" cy="2322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6742"/>
          </a:solidFill>
          <a:ln>
            <a:solidFill>
              <a:srgbClr val="246742"/>
            </a:solidFill>
          </a:ln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061E29A-0BD3-3FAA-8709-75E76768C2DD}"/>
              </a:ext>
            </a:extLst>
          </p:cNvPr>
          <p:cNvSpPr/>
          <p:nvPr/>
        </p:nvSpPr>
        <p:spPr>
          <a:xfrm>
            <a:off x="8280400" y="1161202"/>
            <a:ext cx="3486338" cy="40953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kern="0" dirty="0">
                <a:solidFill>
                  <a:srgbClr val="2467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Meeting Overview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24674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Google Shape;5701;p172">
            <a:extLst>
              <a:ext uri="{FF2B5EF4-FFF2-40B4-BE49-F238E27FC236}">
                <a16:creationId xmlns:a16="http://schemas.microsoft.com/office/drawing/2014/main" id="{C9A9DE66-9659-73CF-5E70-1482D4152661}"/>
              </a:ext>
            </a:extLst>
          </p:cNvPr>
          <p:cNvSpPr/>
          <p:nvPr/>
        </p:nvSpPr>
        <p:spPr>
          <a:xfrm>
            <a:off x="8280401" y="1582954"/>
            <a:ext cx="3461350" cy="50706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24674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25400" dir="4200009" sx="101000" sy="101000" rotWithShape="0">
              <a:srgbClr val="000000">
                <a:alpha val="14901"/>
              </a:srgbClr>
            </a:outerShdw>
          </a:effectLst>
        </p:spPr>
        <p:txBody>
          <a:bodyPr spcFirstLastPara="1" wrap="square" lIns="73150" tIns="73150" rIns="73150" bIns="73150" anchor="t" anchorCtr="0">
            <a:noAutofit/>
          </a:bodyPr>
          <a:lstStyle/>
          <a:p>
            <a:pPr marL="171450" marR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95463"/>
              </a:buClr>
              <a:buSzPts val="1000"/>
              <a:buFont typeface="Times New Roman"/>
              <a:buNone/>
            </a:pPr>
            <a:r>
              <a:rPr lang="en-GB" sz="1200" b="1" i="0" u="none" strike="noStrike" cap="none" dirty="0">
                <a:solidFill>
                  <a:srgbClr val="095463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Meeting Reason</a:t>
            </a:r>
          </a:p>
          <a:p>
            <a:pPr marL="184150" indent="-1714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57480" algn="l"/>
              </a:tabLs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……….. </a:t>
            </a:r>
          </a:p>
        </p:txBody>
      </p:sp>
      <p:sp>
        <p:nvSpPr>
          <p:cNvPr id="160" name="Google Shape;5703;p172">
            <a:extLst>
              <a:ext uri="{FF2B5EF4-FFF2-40B4-BE49-F238E27FC236}">
                <a16:creationId xmlns:a16="http://schemas.microsoft.com/office/drawing/2014/main" id="{494A0073-2FE8-5BA4-A491-F00509048F1A}"/>
              </a:ext>
            </a:extLst>
          </p:cNvPr>
          <p:cNvSpPr/>
          <p:nvPr/>
        </p:nvSpPr>
        <p:spPr>
          <a:xfrm rot="5400000">
            <a:off x="8290629" y="1625966"/>
            <a:ext cx="211760" cy="2322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6742"/>
          </a:solidFill>
          <a:ln>
            <a:solidFill>
              <a:srgbClr val="246742"/>
            </a:solidFill>
          </a:ln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63" name="Google Shape;5701;p172">
            <a:extLst>
              <a:ext uri="{FF2B5EF4-FFF2-40B4-BE49-F238E27FC236}">
                <a16:creationId xmlns:a16="http://schemas.microsoft.com/office/drawing/2014/main" id="{9BF3DE33-F525-5332-69A3-C4F242AAD5B6}"/>
              </a:ext>
            </a:extLst>
          </p:cNvPr>
          <p:cNvSpPr/>
          <p:nvPr/>
        </p:nvSpPr>
        <p:spPr>
          <a:xfrm>
            <a:off x="8280401" y="2145801"/>
            <a:ext cx="3461350" cy="116113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24674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25400" dir="4200009" sx="101000" sy="101000" rotWithShape="0">
              <a:srgbClr val="000000">
                <a:alpha val="14901"/>
              </a:srgbClr>
            </a:outerShdw>
          </a:effectLst>
        </p:spPr>
        <p:txBody>
          <a:bodyPr spcFirstLastPara="1" wrap="square" lIns="73150" tIns="73150" rIns="73150" bIns="73150" anchor="t" anchorCtr="0">
            <a:noAutofit/>
          </a:bodyPr>
          <a:lstStyle/>
          <a:p>
            <a:pPr marL="171450" marR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95463"/>
              </a:buClr>
              <a:buSzPts val="1000"/>
              <a:buFont typeface="Times New Roman"/>
              <a:buNone/>
            </a:pPr>
            <a:r>
              <a:rPr lang="en-GB" sz="1200" b="1" i="0" u="none" strike="noStrike" cap="none" dirty="0">
                <a:solidFill>
                  <a:srgbClr val="095463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Investor Presence</a:t>
            </a:r>
          </a:p>
          <a:p>
            <a:pPr marL="184150" indent="-1714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57480" algn="l"/>
              </a:tabLst>
              <a:defRPr/>
            </a:pP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Google Shape;5703;p172">
            <a:extLst>
              <a:ext uri="{FF2B5EF4-FFF2-40B4-BE49-F238E27FC236}">
                <a16:creationId xmlns:a16="http://schemas.microsoft.com/office/drawing/2014/main" id="{E6C9BB5A-4826-8C5F-3332-6F00B27CF5AF}"/>
              </a:ext>
            </a:extLst>
          </p:cNvPr>
          <p:cNvSpPr/>
          <p:nvPr/>
        </p:nvSpPr>
        <p:spPr>
          <a:xfrm rot="5400000">
            <a:off x="8290629" y="2188813"/>
            <a:ext cx="211760" cy="2322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6742"/>
          </a:solidFill>
          <a:ln>
            <a:solidFill>
              <a:srgbClr val="246742"/>
            </a:solidFill>
          </a:ln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82" name="Google Shape;5701;p172">
            <a:extLst>
              <a:ext uri="{FF2B5EF4-FFF2-40B4-BE49-F238E27FC236}">
                <a16:creationId xmlns:a16="http://schemas.microsoft.com/office/drawing/2014/main" id="{5CEAA28F-028C-DD5E-1415-815A9ABFFD27}"/>
              </a:ext>
            </a:extLst>
          </p:cNvPr>
          <p:cNvSpPr/>
          <p:nvPr/>
        </p:nvSpPr>
        <p:spPr>
          <a:xfrm>
            <a:off x="8421717" y="2471591"/>
            <a:ext cx="3171767" cy="36237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 cap="flat" cmpd="sng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1714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5463"/>
              </a:buClr>
              <a:buSzPts val="1000"/>
              <a:buFont typeface="Times New Roman"/>
              <a:buNone/>
            </a:pPr>
            <a:r>
              <a:rPr lang="en-GB" sz="1100" b="1" i="0" u="none" strike="noStrike" cap="none" dirty="0">
                <a:solidFill>
                  <a:srgbClr val="095463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KSA Presence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760F530A-D5AF-138F-06A6-23A9210663AA}"/>
              </a:ext>
            </a:extLst>
          </p:cNvPr>
          <p:cNvSpPr/>
          <p:nvPr/>
        </p:nvSpPr>
        <p:spPr>
          <a:xfrm>
            <a:off x="10177041" y="2579624"/>
            <a:ext cx="566036" cy="14630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 kern="0" dirty="0">
                <a:solidFill>
                  <a:prstClr val="white">
                    <a:lumMod val="7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6B60D0FF-CD0C-A332-5C03-5D741B10C257}"/>
              </a:ext>
            </a:extLst>
          </p:cNvPr>
          <p:cNvSpPr/>
          <p:nvPr/>
        </p:nvSpPr>
        <p:spPr>
          <a:xfrm>
            <a:off x="10777078" y="2579624"/>
            <a:ext cx="566036" cy="14630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197" name="Google Shape;5701;p172">
            <a:extLst>
              <a:ext uri="{FF2B5EF4-FFF2-40B4-BE49-F238E27FC236}">
                <a16:creationId xmlns:a16="http://schemas.microsoft.com/office/drawing/2014/main" id="{25CCCA29-E8AA-AD0A-7B52-CB3A21CDEBE9}"/>
              </a:ext>
            </a:extLst>
          </p:cNvPr>
          <p:cNvSpPr/>
          <p:nvPr/>
        </p:nvSpPr>
        <p:spPr>
          <a:xfrm>
            <a:off x="8421717" y="2902367"/>
            <a:ext cx="3171767" cy="36237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 cap="flat" cmpd="sng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1714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5463"/>
              </a:buClr>
              <a:buSzPts val="1000"/>
              <a:buFont typeface="Times New Roman"/>
              <a:buNone/>
            </a:pPr>
            <a:r>
              <a:rPr lang="en-GB" sz="1100" b="1" i="0" u="none" strike="noStrike" cap="none" dirty="0">
                <a:solidFill>
                  <a:srgbClr val="095463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Incentives</a:t>
            </a:r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2EB15250-1C21-4A4E-D41B-7399A5C84256}"/>
              </a:ext>
            </a:extLst>
          </p:cNvPr>
          <p:cNvGrpSpPr/>
          <p:nvPr/>
        </p:nvGrpSpPr>
        <p:grpSpPr>
          <a:xfrm>
            <a:off x="10177041" y="3010400"/>
            <a:ext cx="1166073" cy="146304"/>
            <a:chOff x="7191867" y="5639185"/>
            <a:chExt cx="1707247" cy="257571"/>
          </a:xfrm>
        </p:grpSpPr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D7720DF0-F95A-5834-A33D-2DB064DE1423}"/>
                </a:ext>
              </a:extLst>
            </p:cNvPr>
            <p:cNvSpPr/>
            <p:nvPr/>
          </p:nvSpPr>
          <p:spPr>
            <a:xfrm>
              <a:off x="7191867" y="5639185"/>
              <a:ext cx="828733" cy="257571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000" kern="0" dirty="0">
                  <a:solidFill>
                    <a:prstClr val="white">
                      <a:lumMod val="7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Yes</a:t>
              </a: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4D70FBBF-B574-3839-701A-9040D922BEE0}"/>
                </a:ext>
              </a:extLst>
            </p:cNvPr>
            <p:cNvSpPr/>
            <p:nvPr/>
          </p:nvSpPr>
          <p:spPr>
            <a:xfrm>
              <a:off x="8070381" y="5639185"/>
              <a:ext cx="828733" cy="257571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No</a:t>
              </a:r>
            </a:p>
          </p:txBody>
        </p:sp>
      </p:grpSp>
      <p:sp>
        <p:nvSpPr>
          <p:cNvPr id="202" name="Google Shape;5701;p172">
            <a:extLst>
              <a:ext uri="{FF2B5EF4-FFF2-40B4-BE49-F238E27FC236}">
                <a16:creationId xmlns:a16="http://schemas.microsoft.com/office/drawing/2014/main" id="{78246B9A-16C6-3385-13AA-4ECB39E4A356}"/>
              </a:ext>
            </a:extLst>
          </p:cNvPr>
          <p:cNvSpPr/>
          <p:nvPr/>
        </p:nvSpPr>
        <p:spPr>
          <a:xfrm>
            <a:off x="8280401" y="3362719"/>
            <a:ext cx="3461350" cy="160198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24674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25400" dir="4200009" sx="101000" sy="101000" rotWithShape="0">
              <a:srgbClr val="000000">
                <a:alpha val="14901"/>
              </a:srgbClr>
            </a:outerShdw>
          </a:effectLst>
        </p:spPr>
        <p:txBody>
          <a:bodyPr spcFirstLastPara="1" wrap="square" lIns="73150" tIns="73150" rIns="73150" bIns="73150" anchor="t" anchorCtr="0">
            <a:noAutofit/>
          </a:bodyPr>
          <a:lstStyle/>
          <a:p>
            <a:pPr marL="171450" marR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95463"/>
              </a:buClr>
              <a:buSzPts val="1000"/>
              <a:buFont typeface="Times New Roman"/>
              <a:buNone/>
            </a:pPr>
            <a:r>
              <a:rPr lang="en-GB" sz="1200" b="1" i="0" u="none" strike="noStrike" cap="none" dirty="0">
                <a:solidFill>
                  <a:srgbClr val="095463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In Saudi  </a:t>
            </a:r>
          </a:p>
          <a:p>
            <a:pPr marL="184150" indent="-1714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57480" algn="l"/>
              </a:tabLst>
              <a:defRPr/>
            </a:pPr>
            <a:endParaRPr lang="en-US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" name="Google Shape;5703;p172">
            <a:extLst>
              <a:ext uri="{FF2B5EF4-FFF2-40B4-BE49-F238E27FC236}">
                <a16:creationId xmlns:a16="http://schemas.microsoft.com/office/drawing/2014/main" id="{EC043710-EFEB-4210-981D-FF82BA3C58D7}"/>
              </a:ext>
            </a:extLst>
          </p:cNvPr>
          <p:cNvSpPr/>
          <p:nvPr/>
        </p:nvSpPr>
        <p:spPr>
          <a:xfrm rot="5400000">
            <a:off x="8290629" y="3405731"/>
            <a:ext cx="211760" cy="2322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6742"/>
          </a:solidFill>
          <a:ln>
            <a:solidFill>
              <a:srgbClr val="246742"/>
            </a:solidFill>
          </a:ln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A8B9E2D5-584C-377B-BA4E-F714760E6BC5}"/>
              </a:ext>
            </a:extLst>
          </p:cNvPr>
          <p:cNvGrpSpPr/>
          <p:nvPr/>
        </p:nvGrpSpPr>
        <p:grpSpPr>
          <a:xfrm>
            <a:off x="8295256" y="3648186"/>
            <a:ext cx="3216536" cy="1229917"/>
            <a:chOff x="8295256" y="4126745"/>
            <a:chExt cx="3216536" cy="1229917"/>
          </a:xfrm>
        </p:grpSpPr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363E5D97-E06D-691E-718B-1760C7D83B66}"/>
                </a:ext>
              </a:extLst>
            </p:cNvPr>
            <p:cNvGrpSpPr/>
            <p:nvPr/>
          </p:nvGrpSpPr>
          <p:grpSpPr>
            <a:xfrm>
              <a:off x="8340025" y="4250610"/>
              <a:ext cx="3171767" cy="1106052"/>
              <a:chOff x="8340025" y="2953451"/>
              <a:chExt cx="3171767" cy="1106052"/>
            </a:xfrm>
          </p:grpSpPr>
          <p:sp>
            <p:nvSpPr>
              <p:cNvPr id="207" name="Google Shape;5701;p172">
                <a:extLst>
                  <a:ext uri="{FF2B5EF4-FFF2-40B4-BE49-F238E27FC236}">
                    <a16:creationId xmlns:a16="http://schemas.microsoft.com/office/drawing/2014/main" id="{386C0AE4-5315-8E6D-3475-4922FC607272}"/>
                  </a:ext>
                </a:extLst>
              </p:cNvPr>
              <p:cNvSpPr/>
              <p:nvPr/>
            </p:nvSpPr>
            <p:spPr>
              <a:xfrm>
                <a:off x="8340025" y="3697133"/>
                <a:ext cx="3171767" cy="362370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9525" cap="flat" cmpd="sng">
                <a:noFill/>
                <a:prstDash val="solid"/>
                <a:miter lim="800000"/>
                <a:headEnd type="none" w="sm" len="sm"/>
                <a:tailEnd type="none" w="sm" len="sm"/>
              </a:ln>
              <a:effectLst/>
            </p:spPr>
            <p:txBody>
              <a:bodyPr spcFirstLastPara="1" wrap="square" lIns="73150" tIns="73150" rIns="73150" bIns="73150" anchor="ctr" anchorCtr="0">
                <a:noAutofit/>
              </a:bodyPr>
              <a:lstStyle/>
              <a:p>
                <a:pPr marL="171450" marR="0" lv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95463"/>
                  </a:buClr>
                  <a:buSzPts val="1000"/>
                  <a:buFont typeface="Times New Roman"/>
                  <a:buNone/>
                </a:pPr>
                <a:r>
                  <a:rPr lang="en-GB" sz="1100" b="1" i="0" u="none" strike="noStrike" cap="none" dirty="0">
                    <a:solidFill>
                      <a:srgbClr val="095463"/>
                    </a:solidFill>
                    <a:latin typeface="Arial" panose="020B0604020202020204" pitchFamily="34" charset="0"/>
                    <a:ea typeface="Times New Roman"/>
                    <a:cs typeface="Arial" panose="020B0604020202020204" pitchFamily="34" charset="0"/>
                    <a:sym typeface="Times New Roman"/>
                  </a:rPr>
                  <a:t>RHQ status </a:t>
                </a:r>
              </a:p>
            </p:txBody>
          </p:sp>
          <p:grpSp>
            <p:nvGrpSpPr>
              <p:cNvPr id="208" name="Group 207">
                <a:extLst>
                  <a:ext uri="{FF2B5EF4-FFF2-40B4-BE49-F238E27FC236}">
                    <a16:creationId xmlns:a16="http://schemas.microsoft.com/office/drawing/2014/main" id="{F7CB59D3-66C9-47CA-2154-A30FC9EC7A29}"/>
                  </a:ext>
                </a:extLst>
              </p:cNvPr>
              <p:cNvGrpSpPr/>
              <p:nvPr/>
            </p:nvGrpSpPr>
            <p:grpSpPr>
              <a:xfrm>
                <a:off x="9716042" y="2953451"/>
                <a:ext cx="1486523" cy="161882"/>
                <a:chOff x="6516920" y="5596079"/>
                <a:chExt cx="2176418" cy="284997"/>
              </a:xfrm>
            </p:grpSpPr>
            <p:sp>
              <p:nvSpPr>
                <p:cNvPr id="209" name="Rectangle 208">
                  <a:extLst>
                    <a:ext uri="{FF2B5EF4-FFF2-40B4-BE49-F238E27FC236}">
                      <a16:creationId xmlns:a16="http://schemas.microsoft.com/office/drawing/2014/main" id="{F64D0548-230E-42A4-63F1-5BC6D3A16C7D}"/>
                    </a:ext>
                  </a:extLst>
                </p:cNvPr>
                <p:cNvSpPr/>
                <p:nvPr/>
              </p:nvSpPr>
              <p:spPr>
                <a:xfrm>
                  <a:off x="6516920" y="5603626"/>
                  <a:ext cx="828733" cy="25757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1000" kern="0" dirty="0">
                      <a:solidFill>
                        <a:prstClr val="white">
                          <a:lumMod val="75000"/>
                        </a:prst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210" name="Rectangle 209">
                  <a:extLst>
                    <a:ext uri="{FF2B5EF4-FFF2-40B4-BE49-F238E27FC236}">
                      <a16:creationId xmlns:a16="http://schemas.microsoft.com/office/drawing/2014/main" id="{04BB286D-CBF2-1AC4-60EE-DE16C54D5C96}"/>
                    </a:ext>
                  </a:extLst>
                </p:cNvPr>
                <p:cNvSpPr/>
                <p:nvPr/>
              </p:nvSpPr>
              <p:spPr>
                <a:xfrm>
                  <a:off x="7447430" y="5596079"/>
                  <a:ext cx="1245908" cy="28499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More = </a:t>
                  </a:r>
                </a:p>
              </p:txBody>
            </p:sp>
          </p:grpSp>
        </p:grp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E99F01D1-F292-1A40-B2E6-8F1E2EF2C45F}"/>
                </a:ext>
              </a:extLst>
            </p:cNvPr>
            <p:cNvGrpSpPr/>
            <p:nvPr/>
          </p:nvGrpSpPr>
          <p:grpSpPr>
            <a:xfrm>
              <a:off x="8322075" y="4585809"/>
              <a:ext cx="3171767" cy="362370"/>
              <a:chOff x="8322075" y="2861986"/>
              <a:chExt cx="3171767" cy="362370"/>
            </a:xfrm>
          </p:grpSpPr>
          <p:sp>
            <p:nvSpPr>
              <p:cNvPr id="212" name="Google Shape;5701;p172">
                <a:extLst>
                  <a:ext uri="{FF2B5EF4-FFF2-40B4-BE49-F238E27FC236}">
                    <a16:creationId xmlns:a16="http://schemas.microsoft.com/office/drawing/2014/main" id="{C9E39A75-7781-33C4-48EC-133E0D8E9156}"/>
                  </a:ext>
                </a:extLst>
              </p:cNvPr>
              <p:cNvSpPr/>
              <p:nvPr/>
            </p:nvSpPr>
            <p:spPr>
              <a:xfrm>
                <a:off x="8322075" y="2861986"/>
                <a:ext cx="3171767" cy="362370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9525" cap="flat" cmpd="sng">
                <a:noFill/>
                <a:prstDash val="solid"/>
                <a:miter lim="800000"/>
                <a:headEnd type="none" w="sm" len="sm"/>
                <a:tailEnd type="none" w="sm" len="sm"/>
              </a:ln>
              <a:effectLst/>
            </p:spPr>
            <p:txBody>
              <a:bodyPr spcFirstLastPara="1" wrap="square" lIns="73150" tIns="73150" rIns="73150" bIns="73150" anchor="ctr" anchorCtr="0">
                <a:noAutofit/>
              </a:bodyPr>
              <a:lstStyle/>
              <a:p>
                <a:pPr marL="171450" marR="0" lv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95463"/>
                  </a:buClr>
                  <a:buSzPts val="1000"/>
                  <a:buFont typeface="Times New Roman"/>
                  <a:buNone/>
                </a:pPr>
                <a:r>
                  <a:rPr lang="en-GB" sz="1100" b="1" dirty="0">
                    <a:solidFill>
                      <a:srgbClr val="095463"/>
                    </a:solidFill>
                    <a:latin typeface="Arial" panose="020B0604020202020204" pitchFamily="34" charset="0"/>
                    <a:ea typeface="Times New Roman"/>
                    <a:cs typeface="Arial" panose="020B0604020202020204" pitchFamily="34" charset="0"/>
                    <a:sym typeface="Times New Roman"/>
                  </a:rPr>
                  <a:t>Employee #</a:t>
                </a:r>
                <a:endParaRPr lang="en-GB" sz="1100" b="1" i="0" u="none" strike="noStrike" cap="none" dirty="0">
                  <a:solidFill>
                    <a:srgbClr val="095463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1CA61C15-EEAA-34AD-8F28-52D6071495F7}"/>
                  </a:ext>
                </a:extLst>
              </p:cNvPr>
              <p:cNvSpPr/>
              <p:nvPr/>
            </p:nvSpPr>
            <p:spPr>
              <a:xfrm>
                <a:off x="9815208" y="2972779"/>
                <a:ext cx="1527905" cy="14630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No#</a:t>
                </a:r>
              </a:p>
            </p:txBody>
          </p:sp>
        </p:grp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F89B6BFD-95E0-495D-7364-D64E6C40A789}"/>
                </a:ext>
              </a:extLst>
            </p:cNvPr>
            <p:cNvGrpSpPr/>
            <p:nvPr/>
          </p:nvGrpSpPr>
          <p:grpSpPr>
            <a:xfrm>
              <a:off x="8295256" y="4126745"/>
              <a:ext cx="2321304" cy="1158289"/>
              <a:chOff x="8295256" y="1976257"/>
              <a:chExt cx="2321304" cy="1158289"/>
            </a:xfrm>
          </p:grpSpPr>
          <p:sp>
            <p:nvSpPr>
              <p:cNvPr id="217" name="Google Shape;5701;p172">
                <a:extLst>
                  <a:ext uri="{FF2B5EF4-FFF2-40B4-BE49-F238E27FC236}">
                    <a16:creationId xmlns:a16="http://schemas.microsoft.com/office/drawing/2014/main" id="{2F5A1198-9677-9C17-B0FE-D1E91DD4EAC0}"/>
                  </a:ext>
                </a:extLst>
              </p:cNvPr>
              <p:cNvSpPr/>
              <p:nvPr/>
            </p:nvSpPr>
            <p:spPr>
              <a:xfrm>
                <a:off x="8295256" y="1976257"/>
                <a:ext cx="1534808" cy="362370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9525" cap="flat" cmpd="sng">
                <a:noFill/>
                <a:prstDash val="solid"/>
                <a:miter lim="800000"/>
                <a:headEnd type="none" w="sm" len="sm"/>
                <a:tailEnd type="none" w="sm" len="sm"/>
              </a:ln>
              <a:effectLst/>
            </p:spPr>
            <p:txBody>
              <a:bodyPr spcFirstLastPara="1" wrap="square" lIns="73150" tIns="73150" rIns="73150" bIns="73150" anchor="ctr" anchorCtr="0">
                <a:noAutofit/>
              </a:bodyPr>
              <a:lstStyle/>
              <a:p>
                <a:pPr marL="171450" marR="0" lv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95463"/>
                  </a:buClr>
                  <a:buSzPts val="1000"/>
                  <a:buFont typeface="Times New Roman"/>
                  <a:buNone/>
                </a:pPr>
                <a:r>
                  <a:rPr lang="en-GB" sz="1100" b="1" i="0" u="none" strike="noStrike" cap="none" dirty="0">
                    <a:solidFill>
                      <a:srgbClr val="095463"/>
                    </a:solidFill>
                    <a:latin typeface="Arial" panose="020B0604020202020204" pitchFamily="34" charset="0"/>
                    <a:ea typeface="Times New Roman"/>
                    <a:cs typeface="Arial" panose="020B0604020202020204" pitchFamily="34" charset="0"/>
                    <a:sym typeface="Times New Roman"/>
                  </a:rPr>
                  <a:t>Branches </a:t>
                </a:r>
              </a:p>
            </p:txBody>
          </p:sp>
          <p:grpSp>
            <p:nvGrpSpPr>
              <p:cNvPr id="218" name="Group 217">
                <a:extLst>
                  <a:ext uri="{FF2B5EF4-FFF2-40B4-BE49-F238E27FC236}">
                    <a16:creationId xmlns:a16="http://schemas.microsoft.com/office/drawing/2014/main" id="{080F012B-F958-C979-1810-30AAB695AEBA}"/>
                  </a:ext>
                </a:extLst>
              </p:cNvPr>
              <p:cNvGrpSpPr/>
              <p:nvPr/>
            </p:nvGrpSpPr>
            <p:grpSpPr>
              <a:xfrm>
                <a:off x="9575264" y="2959891"/>
                <a:ext cx="1041296" cy="174655"/>
                <a:chOff x="6310807" y="5607416"/>
                <a:chExt cx="1524561" cy="307484"/>
              </a:xfrm>
            </p:grpSpPr>
            <p:sp>
              <p:nvSpPr>
                <p:cNvPr id="219" name="Rectangle 218">
                  <a:extLst>
                    <a:ext uri="{FF2B5EF4-FFF2-40B4-BE49-F238E27FC236}">
                      <a16:creationId xmlns:a16="http://schemas.microsoft.com/office/drawing/2014/main" id="{3FA3BAF3-B18F-6230-56C5-B4F62E3D6A14}"/>
                    </a:ext>
                  </a:extLst>
                </p:cNvPr>
                <p:cNvSpPr/>
                <p:nvPr/>
              </p:nvSpPr>
              <p:spPr>
                <a:xfrm>
                  <a:off x="6310807" y="5607416"/>
                  <a:ext cx="828733" cy="25757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1000" kern="0" dirty="0">
                      <a:solidFill>
                        <a:prstClr val="white">
                          <a:lumMod val="75000"/>
                        </a:prst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Yes</a:t>
                  </a:r>
                </a:p>
              </p:txBody>
            </p:sp>
            <p:sp>
              <p:nvSpPr>
                <p:cNvPr id="220" name="Rectangle 219">
                  <a:extLst>
                    <a:ext uri="{FF2B5EF4-FFF2-40B4-BE49-F238E27FC236}">
                      <a16:creationId xmlns:a16="http://schemas.microsoft.com/office/drawing/2014/main" id="{B52511BB-6DE8-C236-CEFD-AF693814C32B}"/>
                    </a:ext>
                  </a:extLst>
                </p:cNvPr>
                <p:cNvSpPr/>
                <p:nvPr/>
              </p:nvSpPr>
              <p:spPr>
                <a:xfrm>
                  <a:off x="7006635" y="5657329"/>
                  <a:ext cx="828733" cy="25757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No</a:t>
                  </a:r>
                </a:p>
              </p:txBody>
            </p:sp>
          </p:grpSp>
        </p:grpSp>
      </p:grpSp>
      <p:sp>
        <p:nvSpPr>
          <p:cNvPr id="223" name="Google Shape;5701;p172">
            <a:extLst>
              <a:ext uri="{FF2B5EF4-FFF2-40B4-BE49-F238E27FC236}">
                <a16:creationId xmlns:a16="http://schemas.microsoft.com/office/drawing/2014/main" id="{E34D22FA-F408-80B2-76C2-DA174DB198BA}"/>
              </a:ext>
            </a:extLst>
          </p:cNvPr>
          <p:cNvSpPr/>
          <p:nvPr/>
        </p:nvSpPr>
        <p:spPr>
          <a:xfrm>
            <a:off x="8280401" y="5020488"/>
            <a:ext cx="3461350" cy="67841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24674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25400" dir="4200009" sx="101000" sy="101000" rotWithShape="0">
              <a:srgbClr val="000000">
                <a:alpha val="14901"/>
              </a:srgbClr>
            </a:outerShdw>
          </a:effectLst>
        </p:spPr>
        <p:txBody>
          <a:bodyPr spcFirstLastPara="1" wrap="square" lIns="73150" tIns="73150" rIns="73150" bIns="73150" anchor="t" anchorCtr="0">
            <a:noAutofit/>
          </a:bodyPr>
          <a:lstStyle/>
          <a:p>
            <a:pPr marL="171450" marR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95463"/>
              </a:buClr>
              <a:buSzPts val="1000"/>
              <a:buFont typeface="Times New Roman"/>
              <a:buNone/>
            </a:pPr>
            <a:r>
              <a:rPr lang="en-GB" sz="1200" b="1" i="0" u="none" strike="noStrike" cap="none" dirty="0">
                <a:solidFill>
                  <a:srgbClr val="095463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Attendees</a:t>
            </a:r>
          </a:p>
          <a:p>
            <a:pPr marL="12700">
              <a:spcAft>
                <a:spcPts val="600"/>
              </a:spcAft>
              <a:tabLst>
                <a:tab pos="157480" algn="l"/>
              </a:tabLst>
              <a:defRPr/>
            </a:pPr>
            <a:r>
              <a:rPr lang="en-US" sz="1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sz="1000" i="1" dirty="0"/>
          </a:p>
        </p:txBody>
      </p:sp>
      <p:sp>
        <p:nvSpPr>
          <p:cNvPr id="225" name="Google Shape;5703;p172">
            <a:extLst>
              <a:ext uri="{FF2B5EF4-FFF2-40B4-BE49-F238E27FC236}">
                <a16:creationId xmlns:a16="http://schemas.microsoft.com/office/drawing/2014/main" id="{99B3F5A3-EFAE-D6EA-C5E5-BEC015F9F69D}"/>
              </a:ext>
            </a:extLst>
          </p:cNvPr>
          <p:cNvSpPr/>
          <p:nvPr/>
        </p:nvSpPr>
        <p:spPr>
          <a:xfrm rot="5400000">
            <a:off x="8290629" y="5063501"/>
            <a:ext cx="211760" cy="2322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6742"/>
          </a:solidFill>
          <a:ln>
            <a:solidFill>
              <a:srgbClr val="246742"/>
            </a:solidFill>
          </a:ln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230" name="Google Shape;5701;p172">
            <a:extLst>
              <a:ext uri="{FF2B5EF4-FFF2-40B4-BE49-F238E27FC236}">
                <a16:creationId xmlns:a16="http://schemas.microsoft.com/office/drawing/2014/main" id="{2EAA5D94-68E0-4734-2F37-8D81EF85A0D7}"/>
              </a:ext>
            </a:extLst>
          </p:cNvPr>
          <p:cNvSpPr/>
          <p:nvPr/>
        </p:nvSpPr>
        <p:spPr>
          <a:xfrm>
            <a:off x="8280401" y="5754684"/>
            <a:ext cx="1534808" cy="52739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24674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25400" dir="4200009" sx="101000" sy="101000" rotWithShape="0">
              <a:srgbClr val="000000">
                <a:alpha val="14901"/>
              </a:srgbClr>
            </a:outerShdw>
          </a:effectLst>
        </p:spPr>
        <p:txBody>
          <a:bodyPr spcFirstLastPara="1" wrap="square" lIns="73150" tIns="73150" rIns="73150" bIns="73150" anchor="t" anchorCtr="0">
            <a:noAutofit/>
          </a:bodyPr>
          <a:lstStyle/>
          <a:p>
            <a:pPr marL="171450" marR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95463"/>
              </a:buClr>
              <a:buSzPts val="1000"/>
              <a:buFont typeface="Times New Roman"/>
              <a:buNone/>
            </a:pPr>
            <a:r>
              <a:rPr lang="en-GB" sz="1200" b="1" i="0" u="none" strike="noStrike" cap="none" dirty="0">
                <a:solidFill>
                  <a:srgbClr val="095463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Brief Owner</a:t>
            </a:r>
          </a:p>
          <a:p>
            <a:pPr marL="12700">
              <a:spcAft>
                <a:spcPts val="600"/>
              </a:spcAft>
              <a:tabLst>
                <a:tab pos="157480" algn="l"/>
              </a:tabLst>
              <a:defRPr/>
            </a:pPr>
            <a:r>
              <a:rPr lang="en-US" sz="1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…..</a:t>
            </a:r>
            <a:endParaRPr lang="en-US" sz="1000" i="1" dirty="0"/>
          </a:p>
        </p:txBody>
      </p:sp>
      <p:sp>
        <p:nvSpPr>
          <p:cNvPr id="232" name="Google Shape;5703;p172">
            <a:extLst>
              <a:ext uri="{FF2B5EF4-FFF2-40B4-BE49-F238E27FC236}">
                <a16:creationId xmlns:a16="http://schemas.microsoft.com/office/drawing/2014/main" id="{ABB04EAE-8BE6-EFB5-E1CF-6716692E9809}"/>
              </a:ext>
            </a:extLst>
          </p:cNvPr>
          <p:cNvSpPr/>
          <p:nvPr/>
        </p:nvSpPr>
        <p:spPr>
          <a:xfrm rot="5400000">
            <a:off x="8290629" y="5797696"/>
            <a:ext cx="211760" cy="2322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6742"/>
          </a:solidFill>
          <a:ln>
            <a:solidFill>
              <a:srgbClr val="246742"/>
            </a:solidFill>
          </a:ln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5122" name="Picture 2" descr="Info ">
            <a:extLst>
              <a:ext uri="{FF2B5EF4-FFF2-40B4-BE49-F238E27FC236}">
                <a16:creationId xmlns:a16="http://schemas.microsoft.com/office/drawing/2014/main" id="{5F5DE443-4ED8-12BD-6C69-AFFE161E7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82" y="1669288"/>
            <a:ext cx="146304" cy="14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Oil industry ">
            <a:extLst>
              <a:ext uri="{FF2B5EF4-FFF2-40B4-BE49-F238E27FC236}">
                <a16:creationId xmlns:a16="http://schemas.microsoft.com/office/drawing/2014/main" id="{74542C7C-85DF-980F-EC62-0170DE23B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82" y="2996970"/>
            <a:ext cx="146304" cy="14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Location ">
            <a:extLst>
              <a:ext uri="{FF2B5EF4-FFF2-40B4-BE49-F238E27FC236}">
                <a16:creationId xmlns:a16="http://schemas.microsoft.com/office/drawing/2014/main" id="{BE89D0DA-63FB-AA36-1472-C10320DE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82" y="4185314"/>
            <a:ext cx="146304" cy="14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Ksa ">
            <a:extLst>
              <a:ext uri="{FF2B5EF4-FFF2-40B4-BE49-F238E27FC236}">
                <a16:creationId xmlns:a16="http://schemas.microsoft.com/office/drawing/2014/main" id="{0F7CAC3F-09D1-A38F-9796-2F223D589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82" y="5068550"/>
            <a:ext cx="146304" cy="14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Employee ">
            <a:extLst>
              <a:ext uri="{FF2B5EF4-FFF2-40B4-BE49-F238E27FC236}">
                <a16:creationId xmlns:a16="http://schemas.microsoft.com/office/drawing/2014/main" id="{66C1C8E9-85FE-0C40-D6DB-B4FA0062E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82" y="5592796"/>
            <a:ext cx="146304" cy="14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Maximize ">
            <a:extLst>
              <a:ext uri="{FF2B5EF4-FFF2-40B4-BE49-F238E27FC236}">
                <a16:creationId xmlns:a16="http://schemas.microsoft.com/office/drawing/2014/main" id="{FB8CF1D1-F532-CF1D-B796-B58E5ED95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041" y="5068550"/>
            <a:ext cx="146304" cy="14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 descr="Hand shake ">
            <a:extLst>
              <a:ext uri="{FF2B5EF4-FFF2-40B4-BE49-F238E27FC236}">
                <a16:creationId xmlns:a16="http://schemas.microsoft.com/office/drawing/2014/main" id="{C9C4A1B8-EFD1-F1A4-BE27-76779F52F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82" y="6117043"/>
            <a:ext cx="146304" cy="14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6" descr="Contract ">
            <a:extLst>
              <a:ext uri="{FF2B5EF4-FFF2-40B4-BE49-F238E27FC236}">
                <a16:creationId xmlns:a16="http://schemas.microsoft.com/office/drawing/2014/main" id="{14DEF6F7-73C4-A7B2-BAC2-FD98AF621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041" y="6117043"/>
            <a:ext cx="146304" cy="14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8" name="Picture 18" descr="Id card ">
            <a:extLst>
              <a:ext uri="{FF2B5EF4-FFF2-40B4-BE49-F238E27FC236}">
                <a16:creationId xmlns:a16="http://schemas.microsoft.com/office/drawing/2014/main" id="{E1C94FBE-0B1C-814B-D198-6EF2A04AD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1756" y="1668923"/>
            <a:ext cx="146304" cy="14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0" name="Picture 20" descr="Career ">
            <a:extLst>
              <a:ext uri="{FF2B5EF4-FFF2-40B4-BE49-F238E27FC236}">
                <a16:creationId xmlns:a16="http://schemas.microsoft.com/office/drawing/2014/main" id="{F737C5CE-37D2-66E6-72FE-1287ABF81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1756" y="2829474"/>
            <a:ext cx="146304" cy="14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2" name="Picture 22" descr="Approved ">
            <a:extLst>
              <a:ext uri="{FF2B5EF4-FFF2-40B4-BE49-F238E27FC236}">
                <a16:creationId xmlns:a16="http://schemas.microsoft.com/office/drawing/2014/main" id="{3CEE703B-25C1-817E-F226-F0B0CA837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1756" y="3990024"/>
            <a:ext cx="146304" cy="14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4" name="Picture 24" descr="Meeting ">
            <a:extLst>
              <a:ext uri="{FF2B5EF4-FFF2-40B4-BE49-F238E27FC236}">
                <a16:creationId xmlns:a16="http://schemas.microsoft.com/office/drawing/2014/main" id="{0CEF4A41-AB7D-935F-5112-6924ABBE2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357" y="1668923"/>
            <a:ext cx="146304" cy="14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6" name="Picture 26" descr="Investment ">
            <a:extLst>
              <a:ext uri="{FF2B5EF4-FFF2-40B4-BE49-F238E27FC236}">
                <a16:creationId xmlns:a16="http://schemas.microsoft.com/office/drawing/2014/main" id="{4A73AC48-E8B0-9C78-75CF-228048809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357" y="2231770"/>
            <a:ext cx="146304" cy="14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8" name="Picture 28" descr="Clipboard ">
            <a:extLst>
              <a:ext uri="{FF2B5EF4-FFF2-40B4-BE49-F238E27FC236}">
                <a16:creationId xmlns:a16="http://schemas.microsoft.com/office/drawing/2014/main" id="{8EB241E7-5D1D-A5C1-DF04-CF1AF993E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357" y="3448688"/>
            <a:ext cx="146304" cy="14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50" name="Picture 30" descr="Audience ">
            <a:extLst>
              <a:ext uri="{FF2B5EF4-FFF2-40B4-BE49-F238E27FC236}">
                <a16:creationId xmlns:a16="http://schemas.microsoft.com/office/drawing/2014/main" id="{63798ED4-CAE7-BE3F-90C5-D96E3FEB9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357" y="5106458"/>
            <a:ext cx="146304" cy="14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52" name="Picture 32" descr="Businessman ">
            <a:extLst>
              <a:ext uri="{FF2B5EF4-FFF2-40B4-BE49-F238E27FC236}">
                <a16:creationId xmlns:a16="http://schemas.microsoft.com/office/drawing/2014/main" id="{0087A9D0-E1E2-2A37-CADA-F2ABBFE41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357" y="5840653"/>
            <a:ext cx="146304" cy="14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54" name="Picture 34" descr="Money ">
            <a:extLst>
              <a:ext uri="{FF2B5EF4-FFF2-40B4-BE49-F238E27FC236}">
                <a16:creationId xmlns:a16="http://schemas.microsoft.com/office/drawing/2014/main" id="{AA356107-7FF5-FF90-29C4-4A92F9ACC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041" y="5592796"/>
            <a:ext cx="146304" cy="14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775205C-32D6-8352-5F0B-63D745D3B81E}"/>
              </a:ext>
            </a:extLst>
          </p:cNvPr>
          <p:cNvSpPr/>
          <p:nvPr/>
        </p:nvSpPr>
        <p:spPr>
          <a:xfrm>
            <a:off x="6808361" y="1809728"/>
            <a:ext cx="895946" cy="40953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kern="0" dirty="0">
                <a:solidFill>
                  <a:srgbClr val="2467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Photo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24674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779567-6119-2400-B112-32CBFA875D0B}"/>
              </a:ext>
            </a:extLst>
          </p:cNvPr>
          <p:cNvSpPr/>
          <p:nvPr/>
        </p:nvSpPr>
        <p:spPr>
          <a:xfrm>
            <a:off x="2927676" y="1001498"/>
            <a:ext cx="895946" cy="40953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kern="0" dirty="0">
                <a:solidFill>
                  <a:srgbClr val="2467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 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24674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5701;p172">
            <a:extLst>
              <a:ext uri="{FF2B5EF4-FFF2-40B4-BE49-F238E27FC236}">
                <a16:creationId xmlns:a16="http://schemas.microsoft.com/office/drawing/2014/main" id="{85EAEAAA-84DE-B9C8-4785-FFA58A345557}"/>
              </a:ext>
            </a:extLst>
          </p:cNvPr>
          <p:cNvSpPr/>
          <p:nvPr/>
        </p:nvSpPr>
        <p:spPr>
          <a:xfrm>
            <a:off x="9907959" y="5762101"/>
            <a:ext cx="1826841" cy="4915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24674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25400" dir="4200009" sx="101000" sy="101000" rotWithShape="0">
              <a:srgbClr val="000000">
                <a:alpha val="14901"/>
              </a:srgbClr>
            </a:outerShdw>
          </a:effectLst>
        </p:spPr>
        <p:txBody>
          <a:bodyPr spcFirstLastPara="1" wrap="square" lIns="73150" tIns="73150" rIns="73150" bIns="73150" anchor="t" anchorCtr="0">
            <a:noAutofit/>
          </a:bodyPr>
          <a:lstStyle/>
          <a:p>
            <a:pPr marL="171450" marR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95463"/>
              </a:buClr>
              <a:buSzPts val="1000"/>
              <a:buFont typeface="Times New Roman"/>
              <a:buNone/>
            </a:pPr>
            <a:r>
              <a:rPr lang="en-GB" sz="1200" b="1" i="0" u="none" strike="noStrike" cap="none" dirty="0">
                <a:solidFill>
                  <a:srgbClr val="095463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 MISA RM</a:t>
            </a:r>
          </a:p>
          <a:p>
            <a:pPr marL="12700">
              <a:spcAft>
                <a:spcPts val="600"/>
              </a:spcAft>
              <a:tabLst>
                <a:tab pos="157480" algn="l"/>
              </a:tabLst>
              <a:defRPr/>
            </a:pPr>
            <a:r>
              <a:rPr lang="en-US" sz="1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…..</a:t>
            </a:r>
            <a:endParaRPr lang="en-US" sz="1000" i="1" dirty="0"/>
          </a:p>
        </p:txBody>
      </p:sp>
      <p:sp>
        <p:nvSpPr>
          <p:cNvPr id="13" name="Google Shape;5703;p172">
            <a:extLst>
              <a:ext uri="{FF2B5EF4-FFF2-40B4-BE49-F238E27FC236}">
                <a16:creationId xmlns:a16="http://schemas.microsoft.com/office/drawing/2014/main" id="{56CBC973-AC18-8367-A212-C2452A0972CF}"/>
              </a:ext>
            </a:extLst>
          </p:cNvPr>
          <p:cNvSpPr/>
          <p:nvPr/>
        </p:nvSpPr>
        <p:spPr>
          <a:xfrm rot="5400000">
            <a:off x="9919309" y="5789268"/>
            <a:ext cx="211760" cy="2322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6742"/>
          </a:solidFill>
          <a:ln>
            <a:solidFill>
              <a:srgbClr val="246742"/>
            </a:solidFill>
          </a:ln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11" name="Picture 32" descr="Businessman ">
            <a:extLst>
              <a:ext uri="{FF2B5EF4-FFF2-40B4-BE49-F238E27FC236}">
                <a16:creationId xmlns:a16="http://schemas.microsoft.com/office/drawing/2014/main" id="{CA87831C-B74D-5CF8-8038-4177E8022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909" y="5832367"/>
            <a:ext cx="146304" cy="14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5701;p172">
            <a:extLst>
              <a:ext uri="{FF2B5EF4-FFF2-40B4-BE49-F238E27FC236}">
                <a16:creationId xmlns:a16="http://schemas.microsoft.com/office/drawing/2014/main" id="{AFF2A8AD-2216-9821-B8C6-062B287AD4D1}"/>
              </a:ext>
            </a:extLst>
          </p:cNvPr>
          <p:cNvSpPr/>
          <p:nvPr/>
        </p:nvSpPr>
        <p:spPr>
          <a:xfrm>
            <a:off x="490448" y="6555352"/>
            <a:ext cx="5978446" cy="23083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24674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25400" dir="4200009" sx="101000" sy="101000" rotWithShape="0">
              <a:srgbClr val="000000">
                <a:alpha val="14901"/>
              </a:srgbClr>
            </a:outerShdw>
          </a:effectLst>
        </p:spPr>
        <p:txBody>
          <a:bodyPr spcFirstLastPara="1" wrap="square" lIns="73150" tIns="73150" rIns="0" bIns="73150" anchor="t" anchorCtr="0">
            <a:noAutofit/>
          </a:bodyPr>
          <a:lstStyle/>
          <a:p>
            <a:pPr marL="1714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5463"/>
              </a:buClr>
              <a:buSzPts val="1000"/>
              <a:buFont typeface="Times New Roman"/>
              <a:buNone/>
            </a:pPr>
            <a:r>
              <a:rPr lang="en-GB" sz="900" b="1" i="0" u="none" strike="noStrike" cap="none" spc="-30">
                <a:solidFill>
                  <a:srgbClr val="095463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Need special arrangement </a:t>
            </a:r>
            <a:endParaRPr lang="en-GB" sz="900" b="1" i="0" u="none" strike="noStrike" cap="none" spc="-30" dirty="0">
              <a:solidFill>
                <a:srgbClr val="095463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834583-C697-3169-59B1-AECAC0CF7454}"/>
              </a:ext>
            </a:extLst>
          </p:cNvPr>
          <p:cNvSpPr/>
          <p:nvPr/>
        </p:nvSpPr>
        <p:spPr>
          <a:xfrm>
            <a:off x="2829798" y="6590059"/>
            <a:ext cx="993823" cy="15386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000" kern="0" dirty="0">
                <a:solidFill>
                  <a:prstClr val="white">
                    <a:lumMod val="7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Gift Exchange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ABCCC9-0E63-79F7-BFBF-87A45B992BC4}"/>
              </a:ext>
            </a:extLst>
          </p:cNvPr>
          <p:cNvSpPr/>
          <p:nvPr/>
        </p:nvSpPr>
        <p:spPr>
          <a:xfrm>
            <a:off x="3926097" y="6617200"/>
            <a:ext cx="813440" cy="11144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Presentation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43CD00-A2A2-18E2-9B68-F089656A7A15}"/>
              </a:ext>
            </a:extLst>
          </p:cNvPr>
          <p:cNvSpPr txBox="1"/>
          <p:nvPr/>
        </p:nvSpPr>
        <p:spPr>
          <a:xfrm>
            <a:off x="4925899" y="6581833"/>
            <a:ext cx="1170101" cy="17031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algn="ctr">
              <a:defRPr sz="1000" kern="0">
                <a:solidFill>
                  <a:prstClr val="white">
                    <a:lumMod val="7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dirty="0">
                <a:sym typeface="Times New Roman"/>
              </a:rPr>
              <a:t>Materials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C31C34-C2B9-63BE-F408-E8736BED87F8}"/>
              </a:ext>
            </a:extLst>
          </p:cNvPr>
          <p:cNvSpPr/>
          <p:nvPr/>
        </p:nvSpPr>
        <p:spPr>
          <a:xfrm>
            <a:off x="10618856" y="4667026"/>
            <a:ext cx="724258" cy="9306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 dirty="0">
                <a:solidFill>
                  <a:prstClr val="white">
                    <a:lumMod val="7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progress  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2309C5-3F5E-5CD8-C643-E47AA457F577}"/>
              </a:ext>
            </a:extLst>
          </p:cNvPr>
          <p:cNvSpPr/>
          <p:nvPr/>
        </p:nvSpPr>
        <p:spPr>
          <a:xfrm>
            <a:off x="10447168" y="637522"/>
            <a:ext cx="895946" cy="40953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kern="0" dirty="0">
                <a:solidFill>
                  <a:srgbClr val="2467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Flag 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24674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007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2">
          <a:extLst>
            <a:ext uri="{FF2B5EF4-FFF2-40B4-BE49-F238E27FC236}">
              <a16:creationId xmlns:a16="http://schemas.microsoft.com/office/drawing/2014/main" id="{3F320D6C-D318-6B2D-A652-D4E1FDA7F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F6D77F0-4BD4-F0C3-7F2A-330C7D514F7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78521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5084D5-9305-A8EA-648B-C61D573500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77E804D7-D63D-AF42-447C-9032B8608CF3}"/>
              </a:ext>
            </a:extLst>
          </p:cNvPr>
          <p:cNvSpPr txBox="1">
            <a:spLocks/>
          </p:cNvSpPr>
          <p:nvPr/>
        </p:nvSpPr>
        <p:spPr>
          <a:xfrm>
            <a:off x="4549006" y="1423194"/>
            <a:ext cx="6541355" cy="43021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kern="0">
                <a:solidFill>
                  <a:srgbClr val="24674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dirty="0"/>
              <a:t> 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A005D15-9A7A-45AA-9151-36A64D5D2AB1}"/>
              </a:ext>
            </a:extLst>
          </p:cNvPr>
          <p:cNvCxnSpPr>
            <a:cxnSpLocks/>
          </p:cNvCxnSpPr>
          <p:nvPr/>
        </p:nvCxnSpPr>
        <p:spPr>
          <a:xfrm>
            <a:off x="4549006" y="1952341"/>
            <a:ext cx="7185795" cy="0"/>
          </a:xfrm>
          <a:prstGeom prst="line">
            <a:avLst/>
          </a:prstGeom>
          <a:ln>
            <a:solidFill>
              <a:srgbClr val="2467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>
            <a:extLst>
              <a:ext uri="{FF2B5EF4-FFF2-40B4-BE49-F238E27FC236}">
                <a16:creationId xmlns:a16="http://schemas.microsoft.com/office/drawing/2014/main" id="{E539CF8D-9C8B-F80A-D2A8-CB6333D67680}"/>
              </a:ext>
            </a:extLst>
          </p:cNvPr>
          <p:cNvSpPr txBox="1">
            <a:spLocks/>
          </p:cNvSpPr>
          <p:nvPr/>
        </p:nvSpPr>
        <p:spPr>
          <a:xfrm>
            <a:off x="4549006" y="5935388"/>
            <a:ext cx="7185795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600" b="1" dirty="0">
                <a:solidFill>
                  <a:srgbClr val="246742"/>
                </a:solidFill>
              </a:rPr>
              <a:t>Equity assets =</a:t>
            </a:r>
            <a:endParaRPr lang="en-US" sz="1400" dirty="0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2EC0F535-CB5C-70F6-729F-88B404D9F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600" cy="758952"/>
          </a:xfrm>
          <a:noFill/>
          <a:ln>
            <a:noFill/>
          </a:ln>
        </p:spPr>
        <p:txBody>
          <a:bodyPr spcFirstLastPara="1" vert="horz" wrap="square" lIns="0" tIns="0" rIns="0" bIns="0" anchor="b" anchorCtr="0">
            <a:noAutofit/>
          </a:bodyPr>
          <a:lstStyle/>
          <a:p>
            <a:pPr rtl="0"/>
            <a:r>
              <a:rPr lang="en-US" sz="2800" spc="-25" dirty="0">
                <a:solidFill>
                  <a:srgbClr val="246742"/>
                </a:solidFill>
              </a:rPr>
              <a:t>Overview of top holdings </a:t>
            </a:r>
            <a:r>
              <a:rPr lang="en-US" sz="2800" b="0" i="1" spc="-25" dirty="0">
                <a:solidFill>
                  <a:srgbClr val="246742"/>
                </a:solidFill>
              </a:rPr>
              <a:t>(Non-exhaustive)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F1036140-4473-4DB3-3051-59D0F0A250EF}"/>
              </a:ext>
            </a:extLst>
          </p:cNvPr>
          <p:cNvSpPr txBox="1">
            <a:spLocks/>
          </p:cNvSpPr>
          <p:nvPr/>
        </p:nvSpPr>
        <p:spPr>
          <a:xfrm>
            <a:off x="457200" y="1397000"/>
            <a:ext cx="3759198" cy="43021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kern="0">
                <a:solidFill>
                  <a:srgbClr val="24674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dirty="0"/>
              <a:t>Company name 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AF8A3FA-9A2A-CE80-2BFE-38660164D6CC}"/>
              </a:ext>
            </a:extLst>
          </p:cNvPr>
          <p:cNvCxnSpPr>
            <a:cxnSpLocks/>
          </p:cNvCxnSpPr>
          <p:nvPr/>
        </p:nvCxnSpPr>
        <p:spPr>
          <a:xfrm>
            <a:off x="457200" y="1952341"/>
            <a:ext cx="3759198" cy="0"/>
          </a:xfrm>
          <a:prstGeom prst="line">
            <a:avLst/>
          </a:prstGeom>
          <a:ln>
            <a:solidFill>
              <a:srgbClr val="2467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63">
            <a:extLst>
              <a:ext uri="{FF2B5EF4-FFF2-40B4-BE49-F238E27FC236}">
                <a16:creationId xmlns:a16="http://schemas.microsoft.com/office/drawing/2014/main" id="{4684C267-165E-A90B-3863-CCA348EA57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8967" y="1484585"/>
            <a:ext cx="307431" cy="307431"/>
          </a:xfrm>
          <a:prstGeom prst="rect">
            <a:avLst/>
          </a:prstGeom>
        </p:spPr>
      </p:pic>
      <p:sp>
        <p:nvSpPr>
          <p:cNvPr id="198" name="TextBox 197">
            <a:extLst>
              <a:ext uri="{FF2B5EF4-FFF2-40B4-BE49-F238E27FC236}">
                <a16:creationId xmlns:a16="http://schemas.microsoft.com/office/drawing/2014/main" id="{407C0528-A38A-D9BA-6F2A-F0119EAF3702}"/>
              </a:ext>
            </a:extLst>
          </p:cNvPr>
          <p:cNvSpPr txBox="1"/>
          <p:nvPr/>
        </p:nvSpPr>
        <p:spPr>
          <a:xfrm>
            <a:off x="425262" y="6466387"/>
            <a:ext cx="94235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Source: ……..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C43F210C-7BB9-15CB-E8B4-C7E923F915AB}"/>
              </a:ext>
            </a:extLst>
          </p:cNvPr>
          <p:cNvSpPr txBox="1">
            <a:spLocks/>
          </p:cNvSpPr>
          <p:nvPr/>
        </p:nvSpPr>
        <p:spPr>
          <a:xfrm>
            <a:off x="457200" y="2011281"/>
            <a:ext cx="3759198" cy="307777"/>
          </a:xfrm>
          <a:prstGeom prst="rect">
            <a:avLst/>
          </a:prstGeom>
          <a:solidFill>
            <a:srgbClr val="246742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chemeClr val="bg1"/>
                </a:solidFill>
              </a:rPr>
              <a:t>Top holdings:</a:t>
            </a: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393EA975-CE24-99CB-063C-2041F9597F76}"/>
              </a:ext>
            </a:extLst>
          </p:cNvPr>
          <p:cNvCxnSpPr/>
          <p:nvPr/>
        </p:nvCxnSpPr>
        <p:spPr>
          <a:xfrm>
            <a:off x="4382702" y="1397000"/>
            <a:ext cx="0" cy="48769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C3F034AF-F34A-8FE9-16E8-72BD0D23AE27}"/>
              </a:ext>
            </a:extLst>
          </p:cNvPr>
          <p:cNvSpPr txBox="1">
            <a:spLocks/>
          </p:cNvSpPr>
          <p:nvPr/>
        </p:nvSpPr>
        <p:spPr>
          <a:xfrm>
            <a:off x="457200" y="5935388"/>
            <a:ext cx="3759198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600" b="1" dirty="0">
                <a:solidFill>
                  <a:srgbClr val="246742"/>
                </a:solidFill>
              </a:rPr>
              <a:t>Equity assets = </a:t>
            </a:r>
            <a:r>
              <a:rPr lang="en-US" sz="1600" b="1" dirty="0"/>
              <a:t>….</a:t>
            </a:r>
            <a:endParaRPr lang="en-US" sz="1400" dirty="0"/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F95A3096-C1F9-FE5C-75D1-0EA54F6ECF2C}"/>
              </a:ext>
            </a:extLst>
          </p:cNvPr>
          <p:cNvSpPr txBox="1">
            <a:spLocks/>
          </p:cNvSpPr>
          <p:nvPr/>
        </p:nvSpPr>
        <p:spPr>
          <a:xfrm>
            <a:off x="4549006" y="2011281"/>
            <a:ext cx="3759198" cy="37213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182880" bIns="0" anchor="t" anchorCtr="0">
            <a:noAutofit/>
          </a:bodyPr>
          <a:lstStyle>
            <a:lvl1pPr marL="457200" lvl="0" indent="-3175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latin typeface="+mn-lt"/>
                <a:ea typeface="+mn-ea"/>
                <a:cs typeface="+mn-cs"/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9pPr>
          </a:lstStyle>
          <a:p>
            <a:pPr marL="139700" indent="0">
              <a:spcAft>
                <a:spcPts val="600"/>
              </a:spcAft>
              <a:buNone/>
            </a:pPr>
            <a:endParaRPr lang="en-US" sz="1000" kern="0" dirty="0">
              <a:solidFill>
                <a:sysClr val="windowText" lastClr="000000"/>
              </a:solidFill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48E7AE76-DC3F-0537-9090-9D7FA7C2488F}"/>
              </a:ext>
            </a:extLst>
          </p:cNvPr>
          <p:cNvSpPr txBox="1">
            <a:spLocks/>
          </p:cNvSpPr>
          <p:nvPr/>
        </p:nvSpPr>
        <p:spPr>
          <a:xfrm>
            <a:off x="4549006" y="2011281"/>
            <a:ext cx="3759198" cy="307777"/>
          </a:xfrm>
          <a:prstGeom prst="rect">
            <a:avLst/>
          </a:prstGeom>
          <a:solidFill>
            <a:srgbClr val="246742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chemeClr val="bg1"/>
                </a:solidFill>
              </a:rPr>
              <a:t>Top holdings: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27" name="Text Placeholder 21">
            <a:extLst>
              <a:ext uri="{FF2B5EF4-FFF2-40B4-BE49-F238E27FC236}">
                <a16:creationId xmlns:a16="http://schemas.microsoft.com/office/drawing/2014/main" id="{CB21A1D0-12F6-A09C-9568-325358F1AB9B}"/>
              </a:ext>
            </a:extLst>
          </p:cNvPr>
          <p:cNvSpPr txBox="1">
            <a:spLocks/>
          </p:cNvSpPr>
          <p:nvPr/>
        </p:nvSpPr>
        <p:spPr>
          <a:xfrm>
            <a:off x="8474507" y="2011281"/>
            <a:ext cx="3260294" cy="37213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182880" bIns="0" anchor="t" anchorCtr="0">
            <a:noAutofit/>
          </a:bodyPr>
          <a:lstStyle>
            <a:lvl1pPr marL="457200" lvl="0" indent="-3175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latin typeface="+mn-lt"/>
                <a:ea typeface="+mn-ea"/>
                <a:cs typeface="+mn-cs"/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9pPr>
          </a:lstStyle>
          <a:p>
            <a:pPr marL="139700" indent="0">
              <a:spcAft>
                <a:spcPts val="600"/>
              </a:spcAft>
              <a:buNone/>
            </a:pPr>
            <a:endParaRPr lang="en-US" sz="1000" kern="0" dirty="0">
              <a:solidFill>
                <a:sysClr val="windowText" lastClr="000000"/>
              </a:solidFill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FC565E9F-D8E3-DC13-56D5-2EC917CD8F59}"/>
              </a:ext>
            </a:extLst>
          </p:cNvPr>
          <p:cNvSpPr txBox="1">
            <a:spLocks/>
          </p:cNvSpPr>
          <p:nvPr/>
        </p:nvSpPr>
        <p:spPr>
          <a:xfrm>
            <a:off x="8474507" y="2011281"/>
            <a:ext cx="3260294" cy="307777"/>
          </a:xfrm>
          <a:prstGeom prst="rect">
            <a:avLst/>
          </a:prstGeom>
          <a:solidFill>
            <a:srgbClr val="246742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chemeClr val="bg1"/>
                </a:solidFill>
              </a:rPr>
              <a:t>Industry holdings: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13A07D2-356E-F5B0-DF9A-D8088785267B}"/>
              </a:ext>
            </a:extLst>
          </p:cNvPr>
          <p:cNvSpPr txBox="1">
            <a:spLocks/>
          </p:cNvSpPr>
          <p:nvPr/>
        </p:nvSpPr>
        <p:spPr>
          <a:xfrm>
            <a:off x="6419852" y="1440886"/>
            <a:ext cx="3759198" cy="43021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kern="0">
                <a:solidFill>
                  <a:srgbClr val="24674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dirty="0"/>
              <a:t>International </a:t>
            </a:r>
          </a:p>
        </p:txBody>
      </p:sp>
    </p:spTree>
    <p:extLst>
      <p:ext uri="{BB962C8B-B14F-4D97-AF65-F5344CB8AC3E}">
        <p14:creationId xmlns:p14="http://schemas.microsoft.com/office/powerpoint/2010/main" val="569950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C2CD3C-C47E-B212-A8A5-1097CA1065C7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rtl="0"/>
            <a:r>
              <a:rPr lang="en-US" sz="2800" spc="-25" dirty="0">
                <a:solidFill>
                  <a:srgbClr val="246742"/>
                </a:solidFill>
              </a:rPr>
              <a:t>Collaborations</a:t>
            </a:r>
          </a:p>
        </p:txBody>
      </p:sp>
      <p:sp>
        <p:nvSpPr>
          <p:cNvPr id="7265" name="Google Shape;7265;p185"/>
          <p:cNvSpPr txBox="1">
            <a:spLocks noGrp="1"/>
          </p:cNvSpPr>
          <p:nvPr>
            <p:ph type="sldNum" idx="4294967295"/>
          </p:nvPr>
        </p:nvSpPr>
        <p:spPr>
          <a:xfrm>
            <a:off x="0" y="6751638"/>
            <a:ext cx="1936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11B493B-3663-0526-F707-CAE97BEC6291}"/>
              </a:ext>
            </a:extLst>
          </p:cNvPr>
          <p:cNvSpPr txBox="1">
            <a:spLocks/>
          </p:cNvSpPr>
          <p:nvPr/>
        </p:nvSpPr>
        <p:spPr>
          <a:xfrm>
            <a:off x="457200" y="1155500"/>
            <a:ext cx="5410200" cy="43021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kern="0">
                <a:solidFill>
                  <a:srgbClr val="24674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Overview of Existing Collaborations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B2CF11F-136D-41B9-0E0D-7ED6C114A7AB}"/>
              </a:ext>
            </a:extLst>
          </p:cNvPr>
          <p:cNvSpPr txBox="1">
            <a:spLocks/>
          </p:cNvSpPr>
          <p:nvPr/>
        </p:nvSpPr>
        <p:spPr>
          <a:xfrm>
            <a:off x="6324600" y="1155500"/>
            <a:ext cx="5410200" cy="43021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kern="0">
                <a:solidFill>
                  <a:srgbClr val="24674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Potential Areas of Collaboration 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BD43DD1-B86B-BA41-BC3F-84EFD2F53A26}"/>
              </a:ext>
            </a:extLst>
          </p:cNvPr>
          <p:cNvSpPr/>
          <p:nvPr/>
        </p:nvSpPr>
        <p:spPr>
          <a:xfrm rot="16200000">
            <a:off x="5133612" y="2307226"/>
            <a:ext cx="1938528" cy="480025"/>
          </a:xfrm>
          <a:custGeom>
            <a:avLst/>
            <a:gdLst>
              <a:gd name="csX0" fmla="*/ 1938528 w 1938528"/>
              <a:gd name="csY0" fmla="*/ 4537 h 480025"/>
              <a:gd name="csX1" fmla="*/ 1938528 w 1938528"/>
              <a:gd name="csY1" fmla="*/ 480025 h 480025"/>
              <a:gd name="csX2" fmla="*/ 0 w 1938528"/>
              <a:gd name="csY2" fmla="*/ 480025 h 480025"/>
              <a:gd name="csX3" fmla="*/ 987615 w 1938528"/>
              <a:gd name="csY3" fmla="*/ 0 h 480025"/>
              <a:gd name="csX4" fmla="*/ 987615 w 1938528"/>
              <a:gd name="csY4" fmla="*/ 4537 h 4800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38528" h="480025">
                <a:moveTo>
                  <a:pt x="1938528" y="4537"/>
                </a:moveTo>
                <a:lnTo>
                  <a:pt x="1938528" y="480025"/>
                </a:lnTo>
                <a:lnTo>
                  <a:pt x="0" y="480025"/>
                </a:lnTo>
                <a:lnTo>
                  <a:pt x="987615" y="0"/>
                </a:lnTo>
                <a:lnTo>
                  <a:pt x="987615" y="4537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675EB96-1911-4485-56A8-79D1DD19D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670323"/>
              </p:ext>
            </p:extLst>
          </p:nvPr>
        </p:nvGraphicFramePr>
        <p:xfrm>
          <a:off x="457200" y="1577975"/>
          <a:ext cx="11267313" cy="461962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06466">
                  <a:extLst>
                    <a:ext uri="{9D8B030D-6E8A-4147-A177-3AD203B41FA5}">
                      <a16:colId xmlns:a16="http://schemas.microsoft.com/office/drawing/2014/main" val="2554921363"/>
                    </a:ext>
                  </a:extLst>
                </a:gridCol>
                <a:gridCol w="5001425">
                  <a:extLst>
                    <a:ext uri="{9D8B030D-6E8A-4147-A177-3AD203B41FA5}">
                      <a16:colId xmlns:a16="http://schemas.microsoft.com/office/drawing/2014/main" val="3911933253"/>
                    </a:ext>
                  </a:extLst>
                </a:gridCol>
                <a:gridCol w="489527">
                  <a:extLst>
                    <a:ext uri="{9D8B030D-6E8A-4147-A177-3AD203B41FA5}">
                      <a16:colId xmlns:a16="http://schemas.microsoft.com/office/drawing/2014/main" val="1426131257"/>
                    </a:ext>
                  </a:extLst>
                </a:gridCol>
                <a:gridCol w="5369895">
                  <a:extLst>
                    <a:ext uri="{9D8B030D-6E8A-4147-A177-3AD203B41FA5}">
                      <a16:colId xmlns:a16="http://schemas.microsoft.com/office/drawing/2014/main" val="4238925077"/>
                    </a:ext>
                  </a:extLst>
                </a:gridCol>
              </a:tblGrid>
              <a:tr h="92196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200" b="1" dirty="0">
                          <a:solidFill>
                            <a:srgbClr val="24674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b="1" dirty="0">
                        <a:solidFill>
                          <a:srgbClr val="246742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noFill/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`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396875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lphaUcPeriod"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2753471"/>
                  </a:ext>
                </a:extLst>
              </a:tr>
              <a:tr h="9464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200" b="1" dirty="0">
                          <a:solidFill>
                            <a:srgbClr val="24674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b="1" dirty="0">
                        <a:solidFill>
                          <a:srgbClr val="246742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63005607"/>
                  </a:ext>
                </a:extLst>
              </a:tr>
              <a:tr h="113283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200" b="1" dirty="0">
                          <a:solidFill>
                            <a:srgbClr val="24674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b="1" dirty="0">
                        <a:solidFill>
                          <a:srgbClr val="246742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705370"/>
                  </a:ext>
                </a:extLst>
              </a:tr>
              <a:tr h="161833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200" b="1" dirty="0">
                          <a:solidFill>
                            <a:srgbClr val="24674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b="1" dirty="0">
                        <a:solidFill>
                          <a:srgbClr val="246742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10918744"/>
                  </a:ext>
                </a:extLst>
              </a:tr>
            </a:tbl>
          </a:graphicData>
        </a:graphic>
      </p:graphicFrame>
      <p:grpSp>
        <p:nvGrpSpPr>
          <p:cNvPr id="24" name="Google Shape;11303;p282">
            <a:extLst>
              <a:ext uri="{FF2B5EF4-FFF2-40B4-BE49-F238E27FC236}">
                <a16:creationId xmlns:a16="http://schemas.microsoft.com/office/drawing/2014/main" id="{BA6271D9-7A56-0155-F44B-E4322A8C4009}"/>
              </a:ext>
            </a:extLst>
          </p:cNvPr>
          <p:cNvGrpSpPr/>
          <p:nvPr/>
        </p:nvGrpSpPr>
        <p:grpSpPr>
          <a:xfrm>
            <a:off x="5993053" y="1879600"/>
            <a:ext cx="219647" cy="316310"/>
            <a:chOff x="4055086" y="3755546"/>
            <a:chExt cx="219647" cy="316310"/>
          </a:xfrm>
        </p:grpSpPr>
        <p:sp>
          <p:nvSpPr>
            <p:cNvPr id="25" name="Google Shape;11304;p282">
              <a:extLst>
                <a:ext uri="{FF2B5EF4-FFF2-40B4-BE49-F238E27FC236}">
                  <a16:creationId xmlns:a16="http://schemas.microsoft.com/office/drawing/2014/main" id="{A408A4B7-A425-DE85-E3FF-EB4A36235761}"/>
                </a:ext>
              </a:extLst>
            </p:cNvPr>
            <p:cNvSpPr/>
            <p:nvPr/>
          </p:nvSpPr>
          <p:spPr>
            <a:xfrm>
              <a:off x="4055086" y="3815500"/>
              <a:ext cx="103285" cy="196403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  <p:sp>
          <p:nvSpPr>
            <p:cNvPr id="26" name="Google Shape;11305;p282">
              <a:extLst>
                <a:ext uri="{FF2B5EF4-FFF2-40B4-BE49-F238E27FC236}">
                  <a16:creationId xmlns:a16="http://schemas.microsoft.com/office/drawing/2014/main" id="{37C8D872-74DA-1C49-7E94-0EFE66261EF6}"/>
                </a:ext>
              </a:extLst>
            </p:cNvPr>
            <p:cNvSpPr/>
            <p:nvPr/>
          </p:nvSpPr>
          <p:spPr>
            <a:xfrm>
              <a:off x="4108392" y="3755546"/>
              <a:ext cx="166341" cy="316310"/>
            </a:xfrm>
            <a:prstGeom prst="chevron">
              <a:avLst>
                <a:gd name="adj" fmla="val 50000"/>
              </a:avLst>
            </a:prstGeom>
            <a:solidFill>
              <a:srgbClr val="24674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6742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grpSp>
        <p:nvGrpSpPr>
          <p:cNvPr id="36" name="Google Shape;11303;p282">
            <a:extLst>
              <a:ext uri="{FF2B5EF4-FFF2-40B4-BE49-F238E27FC236}">
                <a16:creationId xmlns:a16="http://schemas.microsoft.com/office/drawing/2014/main" id="{9A978220-55BB-9C30-CA99-6D995DB3C022}"/>
              </a:ext>
            </a:extLst>
          </p:cNvPr>
          <p:cNvGrpSpPr/>
          <p:nvPr/>
        </p:nvGrpSpPr>
        <p:grpSpPr>
          <a:xfrm>
            <a:off x="5993053" y="3938978"/>
            <a:ext cx="219647" cy="316310"/>
            <a:chOff x="4055086" y="3755546"/>
            <a:chExt cx="219647" cy="316310"/>
          </a:xfrm>
        </p:grpSpPr>
        <p:sp>
          <p:nvSpPr>
            <p:cNvPr id="37" name="Google Shape;11304;p282">
              <a:extLst>
                <a:ext uri="{FF2B5EF4-FFF2-40B4-BE49-F238E27FC236}">
                  <a16:creationId xmlns:a16="http://schemas.microsoft.com/office/drawing/2014/main" id="{8990DB3B-CEC0-E725-727D-D2D92DC90227}"/>
                </a:ext>
              </a:extLst>
            </p:cNvPr>
            <p:cNvSpPr/>
            <p:nvPr/>
          </p:nvSpPr>
          <p:spPr>
            <a:xfrm>
              <a:off x="4055086" y="3815500"/>
              <a:ext cx="103285" cy="196403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  <p:sp>
          <p:nvSpPr>
            <p:cNvPr id="38" name="Google Shape;11305;p282">
              <a:extLst>
                <a:ext uri="{FF2B5EF4-FFF2-40B4-BE49-F238E27FC236}">
                  <a16:creationId xmlns:a16="http://schemas.microsoft.com/office/drawing/2014/main" id="{0709A416-3881-4052-A51E-D9CBAAB96F02}"/>
                </a:ext>
              </a:extLst>
            </p:cNvPr>
            <p:cNvSpPr/>
            <p:nvPr/>
          </p:nvSpPr>
          <p:spPr>
            <a:xfrm>
              <a:off x="4108392" y="3755546"/>
              <a:ext cx="166341" cy="316310"/>
            </a:xfrm>
            <a:prstGeom prst="chevron">
              <a:avLst>
                <a:gd name="adj" fmla="val 50000"/>
              </a:avLst>
            </a:prstGeom>
            <a:solidFill>
              <a:srgbClr val="24674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6742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grpSp>
        <p:nvGrpSpPr>
          <p:cNvPr id="39" name="Google Shape;11303;p282">
            <a:extLst>
              <a:ext uri="{FF2B5EF4-FFF2-40B4-BE49-F238E27FC236}">
                <a16:creationId xmlns:a16="http://schemas.microsoft.com/office/drawing/2014/main" id="{21B6676E-D77F-0F91-3ADD-5491D07253AB}"/>
              </a:ext>
            </a:extLst>
          </p:cNvPr>
          <p:cNvGrpSpPr/>
          <p:nvPr/>
        </p:nvGrpSpPr>
        <p:grpSpPr>
          <a:xfrm>
            <a:off x="5993053" y="5379851"/>
            <a:ext cx="219647" cy="316310"/>
            <a:chOff x="4055086" y="3755546"/>
            <a:chExt cx="219647" cy="316310"/>
          </a:xfrm>
        </p:grpSpPr>
        <p:sp>
          <p:nvSpPr>
            <p:cNvPr id="40" name="Google Shape;11304;p282">
              <a:extLst>
                <a:ext uri="{FF2B5EF4-FFF2-40B4-BE49-F238E27FC236}">
                  <a16:creationId xmlns:a16="http://schemas.microsoft.com/office/drawing/2014/main" id="{BAD39D7B-CF18-8C15-2D6E-AFD918D7654A}"/>
                </a:ext>
              </a:extLst>
            </p:cNvPr>
            <p:cNvSpPr/>
            <p:nvPr/>
          </p:nvSpPr>
          <p:spPr>
            <a:xfrm>
              <a:off x="4055086" y="3815500"/>
              <a:ext cx="103285" cy="196403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  <p:sp>
          <p:nvSpPr>
            <p:cNvPr id="41" name="Google Shape;11305;p282">
              <a:extLst>
                <a:ext uri="{FF2B5EF4-FFF2-40B4-BE49-F238E27FC236}">
                  <a16:creationId xmlns:a16="http://schemas.microsoft.com/office/drawing/2014/main" id="{4DD209B8-B219-740B-3EE5-00A6500D2B2B}"/>
                </a:ext>
              </a:extLst>
            </p:cNvPr>
            <p:cNvSpPr/>
            <p:nvPr/>
          </p:nvSpPr>
          <p:spPr>
            <a:xfrm>
              <a:off x="4108392" y="3755546"/>
              <a:ext cx="166341" cy="316310"/>
            </a:xfrm>
            <a:prstGeom prst="chevron">
              <a:avLst>
                <a:gd name="adj" fmla="val 50000"/>
              </a:avLst>
            </a:prstGeom>
            <a:solidFill>
              <a:srgbClr val="24674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6742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E16324FD-C5D9-C761-F404-FFEB4546510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089333" y="133586"/>
            <a:ext cx="837547" cy="5583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2">
          <a:extLst>
            <a:ext uri="{FF2B5EF4-FFF2-40B4-BE49-F238E27FC236}">
              <a16:creationId xmlns:a16="http://schemas.microsoft.com/office/drawing/2014/main" id="{132EA405-1229-2D40-851C-EFD743B5A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C101E143-0268-934F-14D8-8D996FEB2383}"/>
              </a:ext>
            </a:extLst>
          </p:cNvPr>
          <p:cNvGrpSpPr/>
          <p:nvPr/>
        </p:nvGrpSpPr>
        <p:grpSpPr>
          <a:xfrm>
            <a:off x="4296296" y="1397000"/>
            <a:ext cx="3428007" cy="482600"/>
            <a:chOff x="6661690" y="2276475"/>
            <a:chExt cx="2748595" cy="402690"/>
          </a:xfrm>
        </p:grpSpPr>
        <p:pic>
          <p:nvPicPr>
            <p:cNvPr id="27" name="Picture 26" descr="Low angle view of a building&#10;&#10;Description automatically generated">
              <a:extLst>
                <a:ext uri="{FF2B5EF4-FFF2-40B4-BE49-F238E27FC236}">
                  <a16:creationId xmlns:a16="http://schemas.microsoft.com/office/drawing/2014/main" id="{04513581-2675-8FB2-EB1D-A407D3480A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254" t="45644" r="1887" b="46352"/>
            <a:stretch/>
          </p:blipFill>
          <p:spPr>
            <a:xfrm>
              <a:off x="6661690" y="2276475"/>
              <a:ext cx="2746642" cy="365624"/>
            </a:xfrm>
            <a:custGeom>
              <a:avLst/>
              <a:gdLst>
                <a:gd name="connsiteX0" fmla="*/ 0 w 3817589"/>
                <a:gd name="connsiteY0" fmla="*/ 0 h 640218"/>
                <a:gd name="connsiteX1" fmla="*/ 3817589 w 3817589"/>
                <a:gd name="connsiteY1" fmla="*/ 0 h 640218"/>
                <a:gd name="connsiteX2" fmla="*/ 3817589 w 3817589"/>
                <a:gd name="connsiteY2" fmla="*/ 640218 h 640218"/>
                <a:gd name="connsiteX3" fmla="*/ 0 w 3817589"/>
                <a:gd name="connsiteY3" fmla="*/ 640218 h 64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7589" h="640218">
                  <a:moveTo>
                    <a:pt x="0" y="0"/>
                  </a:moveTo>
                  <a:lnTo>
                    <a:pt x="3817589" y="0"/>
                  </a:lnTo>
                  <a:lnTo>
                    <a:pt x="3817589" y="640218"/>
                  </a:lnTo>
                  <a:lnTo>
                    <a:pt x="0" y="640218"/>
                  </a:lnTo>
                  <a:close/>
                </a:path>
              </a:pathLst>
            </a:cu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C2C8D94-783D-6287-2230-03280999DE2A}"/>
                </a:ext>
              </a:extLst>
            </p:cNvPr>
            <p:cNvSpPr>
              <a:spLocks/>
            </p:cNvSpPr>
            <p:nvPr/>
          </p:nvSpPr>
          <p:spPr>
            <a:xfrm>
              <a:off x="6661690" y="2276475"/>
              <a:ext cx="2748595" cy="365624"/>
            </a:xfrm>
            <a:prstGeom prst="rect">
              <a:avLst/>
            </a:prstGeom>
            <a:solidFill>
              <a:srgbClr val="246742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1440" tIns="0" rIns="91440" bIns="0"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Sector 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8B0A2C6-7E00-0099-5DB9-DB67BACE285E}"/>
                </a:ext>
              </a:extLst>
            </p:cNvPr>
            <p:cNvGrpSpPr/>
            <p:nvPr/>
          </p:nvGrpSpPr>
          <p:grpSpPr>
            <a:xfrm>
              <a:off x="6663650" y="2679165"/>
              <a:ext cx="2746635" cy="0"/>
              <a:chOff x="2032011" y="2206455"/>
              <a:chExt cx="3199326" cy="0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2825ED8-1770-8ADF-BFE6-EE6ED10B13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2011" y="2206455"/>
                <a:ext cx="3199326" cy="0"/>
              </a:xfrm>
              <a:prstGeom prst="line">
                <a:avLst/>
              </a:prstGeom>
              <a:ln w="6350" cap="rnd">
                <a:solidFill>
                  <a:schemeClr val="tx2"/>
                </a:solidFill>
                <a:prstDash val="sysDot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7AE7620F-7D06-C504-0A43-58488F6427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2011" y="2206455"/>
                <a:ext cx="273171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95084D5-9305-A8EA-648B-C61D5735002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5" progId="TCLayout.ActiveDocument.1">
                  <p:embed/>
                </p:oleObj>
              </mc:Choice>
              <mc:Fallback>
                <p:oleObj name="think-cell Slide" r:id="rId5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BF5A658-CCCD-E4DC-3E98-1F0DBE0B28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itle 19">
            <a:extLst>
              <a:ext uri="{FF2B5EF4-FFF2-40B4-BE49-F238E27FC236}">
                <a16:creationId xmlns:a16="http://schemas.microsoft.com/office/drawing/2014/main" id="{9BD401A8-C6A9-0ED9-E76B-2A8342A3C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600" cy="758952"/>
          </a:xfrm>
          <a:noFill/>
          <a:ln>
            <a:noFill/>
          </a:ln>
        </p:spPr>
        <p:txBody>
          <a:bodyPr spcFirstLastPara="1" vert="horz" wrap="square" lIns="0" tIns="0" rIns="0" bIns="0" anchor="b" anchorCtr="0">
            <a:noAutofit/>
          </a:bodyPr>
          <a:lstStyle/>
          <a:p>
            <a:pPr rtl="0"/>
            <a:r>
              <a:rPr lang="en-US" sz="2800" spc="-25" dirty="0">
                <a:solidFill>
                  <a:srgbClr val="246742"/>
                </a:solidFill>
              </a:rPr>
              <a:t>Overview of investments/ operations </a:t>
            </a:r>
            <a:r>
              <a:rPr lang="en-US" sz="2800" b="0" i="1" spc="-25" dirty="0">
                <a:solidFill>
                  <a:srgbClr val="246742"/>
                </a:solidFill>
              </a:rPr>
              <a:t>(Non-exhaustive)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3BB3331-BC1C-52E0-2A8A-45DD400E7B4C}"/>
              </a:ext>
            </a:extLst>
          </p:cNvPr>
          <p:cNvGrpSpPr>
            <a:grpSpLocks/>
          </p:cNvGrpSpPr>
          <p:nvPr/>
        </p:nvGrpSpPr>
        <p:grpSpPr>
          <a:xfrm>
            <a:off x="457200" y="1397000"/>
            <a:ext cx="3428007" cy="482600"/>
            <a:chOff x="6661690" y="2276475"/>
            <a:chExt cx="2748595" cy="402690"/>
          </a:xfrm>
        </p:grpSpPr>
        <p:pic>
          <p:nvPicPr>
            <p:cNvPr id="12" name="Picture 11" descr="Low angle view of a building&#10;&#10;Description automatically generated">
              <a:extLst>
                <a:ext uri="{FF2B5EF4-FFF2-40B4-BE49-F238E27FC236}">
                  <a16:creationId xmlns:a16="http://schemas.microsoft.com/office/drawing/2014/main" id="{9FCDF744-16F5-6F76-C7D3-11695CF60D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254" t="45644" r="1887" b="46352"/>
            <a:stretch/>
          </p:blipFill>
          <p:spPr>
            <a:xfrm>
              <a:off x="6661690" y="2276475"/>
              <a:ext cx="2746642" cy="365624"/>
            </a:xfrm>
            <a:custGeom>
              <a:avLst/>
              <a:gdLst>
                <a:gd name="connsiteX0" fmla="*/ 0 w 3817589"/>
                <a:gd name="connsiteY0" fmla="*/ 0 h 640218"/>
                <a:gd name="connsiteX1" fmla="*/ 3817589 w 3817589"/>
                <a:gd name="connsiteY1" fmla="*/ 0 h 640218"/>
                <a:gd name="connsiteX2" fmla="*/ 3817589 w 3817589"/>
                <a:gd name="connsiteY2" fmla="*/ 640218 h 640218"/>
                <a:gd name="connsiteX3" fmla="*/ 0 w 3817589"/>
                <a:gd name="connsiteY3" fmla="*/ 640218 h 64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7589" h="640218">
                  <a:moveTo>
                    <a:pt x="0" y="0"/>
                  </a:moveTo>
                  <a:lnTo>
                    <a:pt x="3817589" y="0"/>
                  </a:lnTo>
                  <a:lnTo>
                    <a:pt x="3817589" y="640218"/>
                  </a:lnTo>
                  <a:lnTo>
                    <a:pt x="0" y="640218"/>
                  </a:lnTo>
                  <a:close/>
                </a:path>
              </a:pathLst>
            </a:cu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C4B3461-0A8A-644A-0A4C-BDCDA93269E6}"/>
                </a:ext>
              </a:extLst>
            </p:cNvPr>
            <p:cNvSpPr>
              <a:spLocks/>
            </p:cNvSpPr>
            <p:nvPr/>
          </p:nvSpPr>
          <p:spPr>
            <a:xfrm>
              <a:off x="6661690" y="2276475"/>
              <a:ext cx="2748595" cy="365624"/>
            </a:xfrm>
            <a:prstGeom prst="rect">
              <a:avLst/>
            </a:prstGeom>
            <a:solidFill>
              <a:srgbClr val="246742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1440" tIns="0" rIns="91440" bIns="0"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Commercial operations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067C89C-E16E-A1A6-B477-7CD5EDA7FCEE}"/>
                </a:ext>
              </a:extLst>
            </p:cNvPr>
            <p:cNvGrpSpPr/>
            <p:nvPr/>
          </p:nvGrpSpPr>
          <p:grpSpPr>
            <a:xfrm>
              <a:off x="6663650" y="2679165"/>
              <a:ext cx="2746635" cy="0"/>
              <a:chOff x="2032011" y="2206455"/>
              <a:chExt cx="3199326" cy="0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513B206-A476-6D75-7039-AE967715B5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2011" y="2206455"/>
                <a:ext cx="3199326" cy="0"/>
              </a:xfrm>
              <a:prstGeom prst="line">
                <a:avLst/>
              </a:prstGeom>
              <a:ln w="6350" cap="rnd">
                <a:solidFill>
                  <a:schemeClr val="tx2"/>
                </a:solidFill>
                <a:prstDash val="sysDot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F335E144-B44B-A8EA-96FD-65109DB0BB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2011" y="2206455"/>
                <a:ext cx="273171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34A5A509-D094-84A0-8DEF-55D8393B293A}"/>
              </a:ext>
            </a:extLst>
          </p:cNvPr>
          <p:cNvSpPr txBox="1">
            <a:spLocks/>
          </p:cNvSpPr>
          <p:nvPr/>
        </p:nvSpPr>
        <p:spPr>
          <a:xfrm>
            <a:off x="457200" y="2011280"/>
            <a:ext cx="3428007" cy="75206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182880" bIns="0" anchor="t" anchorCtr="0">
            <a:noAutofit/>
          </a:bodyPr>
          <a:lstStyle>
            <a:lvl1pPr marL="457200" lvl="0" indent="-3175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latin typeface="+mn-lt"/>
                <a:ea typeface="+mn-ea"/>
                <a:cs typeface="+mn-cs"/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9pPr>
          </a:lstStyle>
          <a:p>
            <a:pPr marL="139700" indent="0">
              <a:spcAft>
                <a:spcPts val="600"/>
              </a:spcAft>
              <a:buNone/>
            </a:pPr>
            <a:endParaRPr lang="en-US" sz="1000" kern="0" dirty="0">
              <a:solidFill>
                <a:sysClr val="windowText" lastClr="000000"/>
              </a:solidFill>
            </a:endParaRP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933B77F9-B2A9-C5B6-DA52-78C8D46D48FC}"/>
              </a:ext>
            </a:extLst>
          </p:cNvPr>
          <p:cNvSpPr txBox="1">
            <a:spLocks/>
          </p:cNvSpPr>
          <p:nvPr/>
        </p:nvSpPr>
        <p:spPr>
          <a:xfrm>
            <a:off x="457200" y="2932732"/>
            <a:ext cx="3428007" cy="9211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182880" bIns="0" anchor="t" anchorCtr="0">
            <a:noAutofit/>
          </a:bodyPr>
          <a:lstStyle>
            <a:lvl1pPr marL="457200" lvl="0" indent="-3175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latin typeface="+mn-lt"/>
                <a:ea typeface="+mn-ea"/>
                <a:cs typeface="+mn-cs"/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9pPr>
          </a:lstStyle>
          <a:p>
            <a:pPr marL="139700" indent="0">
              <a:spcAft>
                <a:spcPts val="600"/>
              </a:spcAft>
              <a:buNone/>
            </a:pPr>
            <a:endParaRPr lang="en-US" sz="1000" kern="0" dirty="0">
              <a:solidFill>
                <a:sysClr val="windowText" lastClr="000000"/>
              </a:solidFill>
            </a:endParaRPr>
          </a:p>
        </p:txBody>
      </p:sp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0C9EAAB7-2D45-879C-CBE0-E82F670F98A2}"/>
              </a:ext>
            </a:extLst>
          </p:cNvPr>
          <p:cNvSpPr txBox="1">
            <a:spLocks/>
          </p:cNvSpPr>
          <p:nvPr/>
        </p:nvSpPr>
        <p:spPr>
          <a:xfrm>
            <a:off x="457200" y="4023296"/>
            <a:ext cx="3428007" cy="9211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182880" bIns="0" anchor="t" anchorCtr="0">
            <a:noAutofit/>
          </a:bodyPr>
          <a:lstStyle>
            <a:lvl1pPr marL="457200" lvl="0" indent="-3175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latin typeface="+mn-lt"/>
                <a:ea typeface="+mn-ea"/>
                <a:cs typeface="+mn-cs"/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9pPr>
          </a:lstStyle>
          <a:p>
            <a:pPr marL="139700" indent="0">
              <a:spcAft>
                <a:spcPts val="600"/>
              </a:spcAft>
              <a:buNone/>
            </a:pPr>
            <a:endParaRPr lang="en-US" sz="1000" kern="0" dirty="0">
              <a:solidFill>
                <a:sysClr val="windowText" lastClr="000000"/>
              </a:solidFill>
            </a:endParaRP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47E152B9-2251-34B7-9A16-4DA24941AE28}"/>
              </a:ext>
            </a:extLst>
          </p:cNvPr>
          <p:cNvSpPr txBox="1">
            <a:spLocks/>
          </p:cNvSpPr>
          <p:nvPr/>
        </p:nvSpPr>
        <p:spPr>
          <a:xfrm>
            <a:off x="457200" y="5113860"/>
            <a:ext cx="3428007" cy="9211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182880" bIns="0" anchor="t" anchorCtr="0">
            <a:noAutofit/>
          </a:bodyPr>
          <a:lstStyle>
            <a:lvl1pPr marL="457200" lvl="0" indent="-3175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latin typeface="+mn-lt"/>
                <a:ea typeface="+mn-ea"/>
                <a:cs typeface="+mn-cs"/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9pPr>
          </a:lstStyle>
          <a:p>
            <a:pPr marL="139700" indent="0">
              <a:spcAft>
                <a:spcPts val="600"/>
              </a:spcAft>
              <a:buNone/>
            </a:pPr>
            <a:endParaRPr lang="en-US" sz="1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2574097E-33E0-639D-7887-AC6DAABEDABE}"/>
              </a:ext>
            </a:extLst>
          </p:cNvPr>
          <p:cNvSpPr txBox="1">
            <a:spLocks/>
          </p:cNvSpPr>
          <p:nvPr/>
        </p:nvSpPr>
        <p:spPr>
          <a:xfrm>
            <a:off x="4296296" y="2011280"/>
            <a:ext cx="3428007" cy="75206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182880" bIns="0" anchor="t" anchorCtr="0">
            <a:noAutofit/>
          </a:bodyPr>
          <a:lstStyle>
            <a:lvl1pPr marL="457200" lvl="0" indent="-3175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latin typeface="+mn-lt"/>
                <a:ea typeface="+mn-ea"/>
                <a:cs typeface="+mn-cs"/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9pPr>
          </a:lstStyle>
          <a:p>
            <a:pPr marL="139700" indent="0">
              <a:spcAft>
                <a:spcPts val="600"/>
              </a:spcAft>
              <a:buNone/>
            </a:pPr>
            <a:endParaRPr lang="en-US" sz="1000" kern="0" dirty="0">
              <a:solidFill>
                <a:sysClr val="windowText" lastClr="000000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F8E5704-F96B-7711-14A5-FC6D30FE1DB8}"/>
              </a:ext>
            </a:extLst>
          </p:cNvPr>
          <p:cNvGrpSpPr/>
          <p:nvPr/>
        </p:nvGrpSpPr>
        <p:grpSpPr>
          <a:xfrm>
            <a:off x="8135393" y="1397000"/>
            <a:ext cx="3428007" cy="482600"/>
            <a:chOff x="6661690" y="2276475"/>
            <a:chExt cx="2748595" cy="402690"/>
          </a:xfrm>
        </p:grpSpPr>
        <p:pic>
          <p:nvPicPr>
            <p:cNvPr id="18" name="Picture 17" descr="Low angle view of a building&#10;&#10;Description automatically generated">
              <a:extLst>
                <a:ext uri="{FF2B5EF4-FFF2-40B4-BE49-F238E27FC236}">
                  <a16:creationId xmlns:a16="http://schemas.microsoft.com/office/drawing/2014/main" id="{DEC48B32-8B5B-3F30-397B-826B43F15B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254" t="45644" r="1887" b="46352"/>
            <a:stretch/>
          </p:blipFill>
          <p:spPr>
            <a:xfrm>
              <a:off x="6661690" y="2276475"/>
              <a:ext cx="2746642" cy="365624"/>
            </a:xfrm>
            <a:custGeom>
              <a:avLst/>
              <a:gdLst>
                <a:gd name="connsiteX0" fmla="*/ 0 w 3817589"/>
                <a:gd name="connsiteY0" fmla="*/ 0 h 640218"/>
                <a:gd name="connsiteX1" fmla="*/ 3817589 w 3817589"/>
                <a:gd name="connsiteY1" fmla="*/ 0 h 640218"/>
                <a:gd name="connsiteX2" fmla="*/ 3817589 w 3817589"/>
                <a:gd name="connsiteY2" fmla="*/ 640218 h 640218"/>
                <a:gd name="connsiteX3" fmla="*/ 0 w 3817589"/>
                <a:gd name="connsiteY3" fmla="*/ 640218 h 64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7589" h="640218">
                  <a:moveTo>
                    <a:pt x="0" y="0"/>
                  </a:moveTo>
                  <a:lnTo>
                    <a:pt x="3817589" y="0"/>
                  </a:lnTo>
                  <a:lnTo>
                    <a:pt x="3817589" y="640218"/>
                  </a:lnTo>
                  <a:lnTo>
                    <a:pt x="0" y="640218"/>
                  </a:lnTo>
                  <a:close/>
                </a:path>
              </a:pathLst>
            </a:cu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0BDB594-1706-79A1-EC9B-9A153249040B}"/>
                </a:ext>
              </a:extLst>
            </p:cNvPr>
            <p:cNvSpPr>
              <a:spLocks/>
            </p:cNvSpPr>
            <p:nvPr/>
          </p:nvSpPr>
          <p:spPr>
            <a:xfrm>
              <a:off x="6661690" y="2276475"/>
              <a:ext cx="2748595" cy="365624"/>
            </a:xfrm>
            <a:prstGeom prst="rect">
              <a:avLst/>
            </a:prstGeom>
            <a:solidFill>
              <a:srgbClr val="246742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1440" tIns="0" rIns="91440" bIns="0"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Sector 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81C2730-FDAD-13BF-452F-47A9D62997E2}"/>
                </a:ext>
              </a:extLst>
            </p:cNvPr>
            <p:cNvGrpSpPr/>
            <p:nvPr/>
          </p:nvGrpSpPr>
          <p:grpSpPr>
            <a:xfrm>
              <a:off x="6663650" y="2679165"/>
              <a:ext cx="2746635" cy="0"/>
              <a:chOff x="2032011" y="2206455"/>
              <a:chExt cx="3199326" cy="0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231B4CA9-0928-4303-FDF9-ED2746B22F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2011" y="2206455"/>
                <a:ext cx="3199326" cy="0"/>
              </a:xfrm>
              <a:prstGeom prst="line">
                <a:avLst/>
              </a:prstGeom>
              <a:ln w="6350" cap="rnd">
                <a:solidFill>
                  <a:schemeClr val="tx2"/>
                </a:solidFill>
                <a:prstDash val="sysDot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D149F314-C1DB-E3B1-B1DA-6DACA67550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2011" y="2206455"/>
                <a:ext cx="273171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F5A8ABB5-1E5D-BEA9-ED4F-EF6D8FAE438A}"/>
              </a:ext>
            </a:extLst>
          </p:cNvPr>
          <p:cNvSpPr txBox="1">
            <a:spLocks/>
          </p:cNvSpPr>
          <p:nvPr/>
        </p:nvSpPr>
        <p:spPr>
          <a:xfrm>
            <a:off x="4296296" y="2989103"/>
            <a:ext cx="3428007" cy="75206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182880" bIns="0" anchor="t" anchorCtr="0">
            <a:noAutofit/>
          </a:bodyPr>
          <a:lstStyle>
            <a:lvl1pPr marL="457200" lvl="0" indent="-3175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latin typeface="+mn-lt"/>
                <a:ea typeface="+mn-ea"/>
                <a:cs typeface="+mn-cs"/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9pPr>
          </a:lstStyle>
          <a:p>
            <a:pPr marL="139700" indent="0">
              <a:spcAft>
                <a:spcPts val="600"/>
              </a:spcAft>
              <a:buNone/>
            </a:pPr>
            <a:endParaRPr lang="en-US" sz="1000" kern="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D9B43F60-DEEA-A811-0E80-985099A642AA}"/>
              </a:ext>
            </a:extLst>
          </p:cNvPr>
          <p:cNvSpPr txBox="1">
            <a:spLocks/>
          </p:cNvSpPr>
          <p:nvPr/>
        </p:nvSpPr>
        <p:spPr>
          <a:xfrm>
            <a:off x="4293860" y="3966926"/>
            <a:ext cx="3428007" cy="9211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182880" bIns="0" anchor="t" anchorCtr="0">
            <a:noAutofit/>
          </a:bodyPr>
          <a:lstStyle>
            <a:lvl1pPr marL="457200" lvl="0" indent="-3175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latin typeface="+mn-lt"/>
                <a:ea typeface="+mn-ea"/>
                <a:cs typeface="+mn-cs"/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9pPr>
          </a:lstStyle>
          <a:p>
            <a:pPr marL="139700" indent="0">
              <a:spcAft>
                <a:spcPts val="600"/>
              </a:spcAft>
              <a:buNone/>
            </a:pPr>
            <a:endParaRPr lang="en-US" sz="10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6FF2A89D-F609-522C-F8A6-81351DA9D4BF}"/>
              </a:ext>
            </a:extLst>
          </p:cNvPr>
          <p:cNvSpPr txBox="1">
            <a:spLocks/>
          </p:cNvSpPr>
          <p:nvPr/>
        </p:nvSpPr>
        <p:spPr>
          <a:xfrm>
            <a:off x="4293860" y="5113860"/>
            <a:ext cx="3428007" cy="9211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182880" bIns="0" anchor="t" anchorCtr="0">
            <a:noAutofit/>
          </a:bodyPr>
          <a:lstStyle>
            <a:lvl1pPr marL="457200" lvl="0" indent="-3175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latin typeface="+mn-lt"/>
                <a:ea typeface="+mn-ea"/>
                <a:cs typeface="+mn-cs"/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9pPr>
          </a:lstStyle>
          <a:p>
            <a:pPr marL="139700" indent="0">
              <a:spcAft>
                <a:spcPts val="600"/>
              </a:spcAft>
              <a:buNone/>
            </a:pPr>
            <a:endParaRPr lang="en-US" sz="1000" kern="0" dirty="0">
              <a:solidFill>
                <a:sysClr val="windowText" lastClr="000000"/>
              </a:solidFill>
            </a:endParaRP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363DAFDC-F526-9FE6-E7D7-EB77C20D7615}"/>
              </a:ext>
            </a:extLst>
          </p:cNvPr>
          <p:cNvSpPr txBox="1">
            <a:spLocks/>
          </p:cNvSpPr>
          <p:nvPr/>
        </p:nvSpPr>
        <p:spPr>
          <a:xfrm>
            <a:off x="8135393" y="2011279"/>
            <a:ext cx="3428007" cy="12307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182880" bIns="0" anchor="t" anchorCtr="0">
            <a:noAutofit/>
          </a:bodyPr>
          <a:lstStyle>
            <a:lvl1pPr marL="457200" lvl="0" indent="-3175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latin typeface="+mn-lt"/>
                <a:ea typeface="+mn-ea"/>
                <a:cs typeface="+mn-cs"/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9pPr>
          </a:lstStyle>
          <a:p>
            <a:pPr marL="139700" indent="0">
              <a:spcAft>
                <a:spcPts val="600"/>
              </a:spcAft>
              <a:buNone/>
            </a:pPr>
            <a:endParaRPr lang="en-US" sz="1000" kern="0" dirty="0">
              <a:solidFill>
                <a:sysClr val="windowText" lastClr="000000"/>
              </a:solidFill>
            </a:endParaRP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3F331643-609D-B38A-F463-36DD417ECFB0}"/>
              </a:ext>
            </a:extLst>
          </p:cNvPr>
          <p:cNvSpPr txBox="1">
            <a:spLocks/>
          </p:cNvSpPr>
          <p:nvPr/>
        </p:nvSpPr>
        <p:spPr>
          <a:xfrm>
            <a:off x="8135393" y="3407779"/>
            <a:ext cx="3428007" cy="12307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182880" bIns="0" anchor="t" anchorCtr="0">
            <a:noAutofit/>
          </a:bodyPr>
          <a:lstStyle>
            <a:lvl1pPr marL="457200" lvl="0" indent="-3175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latin typeface="+mn-lt"/>
                <a:ea typeface="+mn-ea"/>
                <a:cs typeface="+mn-cs"/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9pPr>
          </a:lstStyle>
          <a:p>
            <a:pPr marL="139700" indent="0">
              <a:spcAft>
                <a:spcPts val="600"/>
              </a:spcAft>
              <a:buNone/>
            </a:pPr>
            <a:endParaRPr lang="en-US" sz="1000" kern="0" dirty="0">
              <a:solidFill>
                <a:sysClr val="windowText" lastClr="000000"/>
              </a:solidFill>
            </a:endParaRP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8B033CAC-C9A6-F176-8184-8F44261ED142}"/>
              </a:ext>
            </a:extLst>
          </p:cNvPr>
          <p:cNvSpPr txBox="1">
            <a:spLocks/>
          </p:cNvSpPr>
          <p:nvPr/>
        </p:nvSpPr>
        <p:spPr>
          <a:xfrm>
            <a:off x="8135393" y="4804279"/>
            <a:ext cx="3428007" cy="12307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182880" bIns="0" anchor="t" anchorCtr="0">
            <a:noAutofit/>
          </a:bodyPr>
          <a:lstStyle>
            <a:lvl1pPr marL="457200" lvl="0" indent="-3175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latin typeface="+mn-lt"/>
                <a:ea typeface="+mn-ea"/>
                <a:cs typeface="+mn-cs"/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latin typeface="+mn-lt"/>
                <a:ea typeface="+mn-ea"/>
                <a:cs typeface="+mn-cs"/>
              </a:defRPr>
            </a:lvl9pPr>
          </a:lstStyle>
          <a:p>
            <a:pPr marL="139700" indent="0">
              <a:spcAft>
                <a:spcPts val="600"/>
              </a:spcAft>
              <a:buNone/>
            </a:pPr>
            <a:r>
              <a:rPr lang="en-US" sz="1000" kern="0" dirty="0">
                <a:solidFill>
                  <a:sysClr val="windowText" lastClr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8817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4C6284B-E39A-50BC-FE11-48D968784287}"/>
              </a:ext>
            </a:extLst>
          </p:cNvPr>
          <p:cNvCxnSpPr>
            <a:cxnSpLocks/>
          </p:cNvCxnSpPr>
          <p:nvPr/>
        </p:nvCxnSpPr>
        <p:spPr>
          <a:xfrm>
            <a:off x="0" y="1702366"/>
            <a:ext cx="12192000" cy="19492"/>
          </a:xfrm>
          <a:prstGeom prst="line">
            <a:avLst/>
          </a:prstGeom>
          <a:ln w="12700">
            <a:solidFill>
              <a:srgbClr val="24674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9">
            <a:extLst>
              <a:ext uri="{FF2B5EF4-FFF2-40B4-BE49-F238E27FC236}">
                <a16:creationId xmlns:a16="http://schemas.microsoft.com/office/drawing/2014/main" id="{341A656D-F72D-1789-DEA5-1AB29D3D23B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rtl="0"/>
            <a:r>
              <a:rPr lang="en-US" sz="2800" spc="-25" dirty="0">
                <a:solidFill>
                  <a:srgbClr val="246742"/>
                </a:solidFill>
              </a:rPr>
              <a:t>Value Proposition to the Kingdom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D1856F-4CCF-51C8-895C-5EEDA44A7E7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3009900"/>
            <a:ext cx="5410200" cy="3314697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Ins="182880"/>
          <a:lstStyle/>
          <a:p>
            <a:pPr marL="139700" indent="0">
              <a:spcAft>
                <a:spcPts val="600"/>
              </a:spcAft>
              <a:buNone/>
            </a:pP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8DF2DD5-9740-841B-663D-19F3E6137DA5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324600" y="3009900"/>
            <a:ext cx="5410200" cy="3314697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Ins="182880"/>
          <a:lstStyle/>
          <a:p>
            <a:pPr>
              <a:spcAft>
                <a:spcPts val="600"/>
              </a:spcAft>
            </a:pPr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D49AD65-0494-FDB9-E38F-BD22D49EDD0A}"/>
              </a:ext>
            </a:extLst>
          </p:cNvPr>
          <p:cNvGrpSpPr>
            <a:grpSpLocks noChangeAspect="1"/>
          </p:cNvGrpSpPr>
          <p:nvPr/>
        </p:nvGrpSpPr>
        <p:grpSpPr>
          <a:xfrm>
            <a:off x="8782698" y="1367266"/>
            <a:ext cx="728676" cy="728676"/>
            <a:chOff x="2783071" y="1075493"/>
            <a:chExt cx="801543" cy="801544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7D5F1CC-EC09-A8A0-0AF4-30AF86300AE1}"/>
                </a:ext>
              </a:extLst>
            </p:cNvPr>
            <p:cNvGrpSpPr/>
            <p:nvPr/>
          </p:nvGrpSpPr>
          <p:grpSpPr>
            <a:xfrm rot="16200000">
              <a:off x="2783071" y="1075493"/>
              <a:ext cx="801544" cy="801543"/>
              <a:chOff x="2260490" y="1709262"/>
              <a:chExt cx="695678" cy="695679"/>
            </a:xfrm>
          </p:grpSpPr>
          <p:sp>
            <p:nvSpPr>
              <p:cNvPr id="40" name="Freeform: Shape 257">
                <a:extLst>
                  <a:ext uri="{FF2B5EF4-FFF2-40B4-BE49-F238E27FC236}">
                    <a16:creationId xmlns:a16="http://schemas.microsoft.com/office/drawing/2014/main" id="{CF214667-3EB5-4D4C-88A6-C65CD044B8C0}"/>
                  </a:ext>
                </a:extLst>
              </p:cNvPr>
              <p:cNvSpPr/>
              <p:nvPr/>
            </p:nvSpPr>
            <p:spPr>
              <a:xfrm>
                <a:off x="2608331" y="2057098"/>
                <a:ext cx="347837" cy="347837"/>
              </a:xfrm>
              <a:custGeom>
                <a:avLst/>
                <a:gdLst>
                  <a:gd name="connsiteX0" fmla="*/ 685800 w 685800"/>
                  <a:gd name="connsiteY0" fmla="*/ 0 h 685800"/>
                  <a:gd name="connsiteX1" fmla="*/ 0 w 685800"/>
                  <a:gd name="connsiteY1" fmla="*/ 685800 h 685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5800" h="685800">
                    <a:moveTo>
                      <a:pt x="685800" y="0"/>
                    </a:moveTo>
                    <a:cubicBezTo>
                      <a:pt x="685800" y="378714"/>
                      <a:pt x="378714" y="685800"/>
                      <a:pt x="0" y="685800"/>
                    </a:cubicBezTo>
                  </a:path>
                </a:pathLst>
              </a:custGeom>
              <a:noFill/>
              <a:ln w="6350" cap="flat">
                <a:solidFill>
                  <a:srgbClr val="24674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89879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Arial"/>
                </a:endParaRPr>
              </a:p>
            </p:txBody>
          </p:sp>
          <p:sp>
            <p:nvSpPr>
              <p:cNvPr id="41" name="Freeform: Shape 258">
                <a:extLst>
                  <a:ext uri="{FF2B5EF4-FFF2-40B4-BE49-F238E27FC236}">
                    <a16:creationId xmlns:a16="http://schemas.microsoft.com/office/drawing/2014/main" id="{FBD75639-358B-4FAC-584D-7D35E0A771BB}"/>
                  </a:ext>
                </a:extLst>
              </p:cNvPr>
              <p:cNvSpPr/>
              <p:nvPr/>
            </p:nvSpPr>
            <p:spPr>
              <a:xfrm>
                <a:off x="2608330" y="1709262"/>
                <a:ext cx="347837" cy="347838"/>
              </a:xfrm>
              <a:custGeom>
                <a:avLst/>
                <a:gdLst>
                  <a:gd name="connsiteX0" fmla="*/ 0 w 685800"/>
                  <a:gd name="connsiteY0" fmla="*/ 0 h 685800"/>
                  <a:gd name="connsiteX1" fmla="*/ 685800 w 685800"/>
                  <a:gd name="connsiteY1" fmla="*/ 685800 h 685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5800" h="685800">
                    <a:moveTo>
                      <a:pt x="0" y="0"/>
                    </a:moveTo>
                    <a:cubicBezTo>
                      <a:pt x="378714" y="0"/>
                      <a:pt x="685800" y="307086"/>
                      <a:pt x="685800" y="685800"/>
                    </a:cubicBezTo>
                  </a:path>
                </a:pathLst>
              </a:custGeom>
              <a:noFill/>
              <a:ln w="6350" cap="rnd">
                <a:solidFill>
                  <a:srgbClr val="246742"/>
                </a:solidFill>
                <a:prstDash val="sysDot"/>
                <a:miter/>
              </a:ln>
            </p:spPr>
            <p:txBody>
              <a:bodyPr rtlCol="0" anchor="ctr"/>
              <a:lstStyle/>
              <a:p>
                <a:pPr marL="0" marR="0" lvl="0" indent="0" defTabSz="89879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Arial"/>
                </a:endParaRPr>
              </a:p>
            </p:txBody>
          </p:sp>
          <p:sp>
            <p:nvSpPr>
              <p:cNvPr id="42" name="Freeform: Shape 259">
                <a:extLst>
                  <a:ext uri="{FF2B5EF4-FFF2-40B4-BE49-F238E27FC236}">
                    <a16:creationId xmlns:a16="http://schemas.microsoft.com/office/drawing/2014/main" id="{D89892DD-C8A4-150B-6D7E-34F3380BB749}"/>
                  </a:ext>
                </a:extLst>
              </p:cNvPr>
              <p:cNvSpPr/>
              <p:nvPr/>
            </p:nvSpPr>
            <p:spPr>
              <a:xfrm>
                <a:off x="2260490" y="1709263"/>
                <a:ext cx="347837" cy="347837"/>
              </a:xfrm>
              <a:custGeom>
                <a:avLst/>
                <a:gdLst>
                  <a:gd name="connsiteX0" fmla="*/ 0 w 685800"/>
                  <a:gd name="connsiteY0" fmla="*/ 685800 h 685800"/>
                  <a:gd name="connsiteX1" fmla="*/ 685800 w 685800"/>
                  <a:gd name="connsiteY1" fmla="*/ 0 h 685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5800" h="685800">
                    <a:moveTo>
                      <a:pt x="0" y="685800"/>
                    </a:moveTo>
                    <a:cubicBezTo>
                      <a:pt x="0" y="307086"/>
                      <a:pt x="307086" y="0"/>
                      <a:pt x="685800" y="0"/>
                    </a:cubicBezTo>
                  </a:path>
                </a:pathLst>
              </a:custGeom>
              <a:noFill/>
              <a:ln w="6350" cap="flat">
                <a:solidFill>
                  <a:srgbClr val="006F4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89879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Arial"/>
                </a:endParaRPr>
              </a:p>
            </p:txBody>
          </p:sp>
          <p:sp>
            <p:nvSpPr>
              <p:cNvPr id="43" name="Freeform: Shape 261">
                <a:extLst>
                  <a:ext uri="{FF2B5EF4-FFF2-40B4-BE49-F238E27FC236}">
                    <a16:creationId xmlns:a16="http://schemas.microsoft.com/office/drawing/2014/main" id="{E33D565D-2E8B-CD31-C978-008BB400B64B}"/>
                  </a:ext>
                </a:extLst>
              </p:cNvPr>
              <p:cNvSpPr/>
              <p:nvPr/>
            </p:nvSpPr>
            <p:spPr>
              <a:xfrm>
                <a:off x="2260490" y="2057104"/>
                <a:ext cx="347837" cy="347837"/>
              </a:xfrm>
              <a:custGeom>
                <a:avLst/>
                <a:gdLst>
                  <a:gd name="connsiteX0" fmla="*/ 685800 w 685800"/>
                  <a:gd name="connsiteY0" fmla="*/ 685800 h 685800"/>
                  <a:gd name="connsiteX1" fmla="*/ 0 w 685800"/>
                  <a:gd name="connsiteY1" fmla="*/ 0 h 685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5800" h="685800">
                    <a:moveTo>
                      <a:pt x="685800" y="685800"/>
                    </a:moveTo>
                    <a:cubicBezTo>
                      <a:pt x="307086" y="685800"/>
                      <a:pt x="0" y="378714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rgbClr val="006F44"/>
                </a:solidFill>
                <a:prstDash val="sysDot"/>
                <a:miter/>
              </a:ln>
            </p:spPr>
            <p:txBody>
              <a:bodyPr rtlCol="0" anchor="ctr"/>
              <a:lstStyle/>
              <a:p>
                <a:pPr marL="0" marR="0" lvl="0" indent="0" defTabSz="89879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Arial"/>
                </a:endParaRPr>
              </a:p>
            </p:txBody>
          </p:sp>
        </p:grp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DFBE096-EB9B-4868-626A-85E9EC89F105}"/>
                </a:ext>
              </a:extLst>
            </p:cNvPr>
            <p:cNvSpPr>
              <a:spLocks/>
            </p:cNvSpPr>
            <p:nvPr/>
          </p:nvSpPr>
          <p:spPr>
            <a:xfrm>
              <a:off x="2845545" y="1135464"/>
              <a:ext cx="676579" cy="676578"/>
            </a:xfrm>
            <a:prstGeom prst="ellipse">
              <a:avLst/>
            </a:prstGeom>
            <a:solidFill>
              <a:srgbClr val="8EDD65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6F4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2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45B8623-9A31-ADA9-8890-9ABCE28D02BF}"/>
              </a:ext>
            </a:extLst>
          </p:cNvPr>
          <p:cNvGrpSpPr>
            <a:grpSpLocks noChangeAspect="1"/>
          </p:cNvGrpSpPr>
          <p:nvPr/>
        </p:nvGrpSpPr>
        <p:grpSpPr>
          <a:xfrm>
            <a:off x="2797962" y="1347774"/>
            <a:ext cx="728676" cy="728676"/>
            <a:chOff x="2783071" y="1075493"/>
            <a:chExt cx="801543" cy="801544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E53DF23-4EB9-5D2C-E988-39FD19DE26D2}"/>
                </a:ext>
              </a:extLst>
            </p:cNvPr>
            <p:cNvGrpSpPr/>
            <p:nvPr/>
          </p:nvGrpSpPr>
          <p:grpSpPr>
            <a:xfrm rot="16200000">
              <a:off x="2783071" y="1075493"/>
              <a:ext cx="801544" cy="801543"/>
              <a:chOff x="2260490" y="1709262"/>
              <a:chExt cx="695678" cy="695679"/>
            </a:xfrm>
          </p:grpSpPr>
          <p:sp>
            <p:nvSpPr>
              <p:cNvPr id="47" name="Freeform: Shape 257">
                <a:extLst>
                  <a:ext uri="{FF2B5EF4-FFF2-40B4-BE49-F238E27FC236}">
                    <a16:creationId xmlns:a16="http://schemas.microsoft.com/office/drawing/2014/main" id="{D034B3FE-D0E8-373D-F82E-D75C7FAC92A9}"/>
                  </a:ext>
                </a:extLst>
              </p:cNvPr>
              <p:cNvSpPr/>
              <p:nvPr/>
            </p:nvSpPr>
            <p:spPr>
              <a:xfrm>
                <a:off x="2608331" y="2057098"/>
                <a:ext cx="347837" cy="347837"/>
              </a:xfrm>
              <a:custGeom>
                <a:avLst/>
                <a:gdLst>
                  <a:gd name="connsiteX0" fmla="*/ 685800 w 685800"/>
                  <a:gd name="connsiteY0" fmla="*/ 0 h 685800"/>
                  <a:gd name="connsiteX1" fmla="*/ 0 w 685800"/>
                  <a:gd name="connsiteY1" fmla="*/ 685800 h 685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5800" h="685800">
                    <a:moveTo>
                      <a:pt x="685800" y="0"/>
                    </a:moveTo>
                    <a:cubicBezTo>
                      <a:pt x="685800" y="378714"/>
                      <a:pt x="378714" y="685800"/>
                      <a:pt x="0" y="685800"/>
                    </a:cubicBezTo>
                  </a:path>
                </a:pathLst>
              </a:custGeom>
              <a:noFill/>
              <a:ln w="6350" cap="flat">
                <a:solidFill>
                  <a:srgbClr val="24674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89879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Arial"/>
                </a:endParaRPr>
              </a:p>
            </p:txBody>
          </p:sp>
          <p:sp>
            <p:nvSpPr>
              <p:cNvPr id="48" name="Freeform: Shape 258">
                <a:extLst>
                  <a:ext uri="{FF2B5EF4-FFF2-40B4-BE49-F238E27FC236}">
                    <a16:creationId xmlns:a16="http://schemas.microsoft.com/office/drawing/2014/main" id="{9192470C-DDDF-D382-1F4E-12A7DCA59B15}"/>
                  </a:ext>
                </a:extLst>
              </p:cNvPr>
              <p:cNvSpPr/>
              <p:nvPr/>
            </p:nvSpPr>
            <p:spPr>
              <a:xfrm>
                <a:off x="2608330" y="1709262"/>
                <a:ext cx="347837" cy="347838"/>
              </a:xfrm>
              <a:custGeom>
                <a:avLst/>
                <a:gdLst>
                  <a:gd name="connsiteX0" fmla="*/ 0 w 685800"/>
                  <a:gd name="connsiteY0" fmla="*/ 0 h 685800"/>
                  <a:gd name="connsiteX1" fmla="*/ 685800 w 685800"/>
                  <a:gd name="connsiteY1" fmla="*/ 685800 h 685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5800" h="685800">
                    <a:moveTo>
                      <a:pt x="0" y="0"/>
                    </a:moveTo>
                    <a:cubicBezTo>
                      <a:pt x="378714" y="0"/>
                      <a:pt x="685800" y="307086"/>
                      <a:pt x="685800" y="685800"/>
                    </a:cubicBezTo>
                  </a:path>
                </a:pathLst>
              </a:custGeom>
              <a:noFill/>
              <a:ln w="6350" cap="rnd">
                <a:solidFill>
                  <a:srgbClr val="246742"/>
                </a:solidFill>
                <a:prstDash val="sysDot"/>
                <a:miter/>
              </a:ln>
            </p:spPr>
            <p:txBody>
              <a:bodyPr rtlCol="0" anchor="ctr"/>
              <a:lstStyle/>
              <a:p>
                <a:pPr marL="0" marR="0" lvl="0" indent="0" defTabSz="89879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Arial"/>
                </a:endParaRPr>
              </a:p>
            </p:txBody>
          </p:sp>
          <p:sp>
            <p:nvSpPr>
              <p:cNvPr id="49" name="Freeform: Shape 259">
                <a:extLst>
                  <a:ext uri="{FF2B5EF4-FFF2-40B4-BE49-F238E27FC236}">
                    <a16:creationId xmlns:a16="http://schemas.microsoft.com/office/drawing/2014/main" id="{B72E9766-51C4-5A8D-93FC-11CC78E037D8}"/>
                  </a:ext>
                </a:extLst>
              </p:cNvPr>
              <p:cNvSpPr/>
              <p:nvPr/>
            </p:nvSpPr>
            <p:spPr>
              <a:xfrm>
                <a:off x="2260490" y="1709263"/>
                <a:ext cx="347837" cy="347837"/>
              </a:xfrm>
              <a:custGeom>
                <a:avLst/>
                <a:gdLst>
                  <a:gd name="connsiteX0" fmla="*/ 0 w 685800"/>
                  <a:gd name="connsiteY0" fmla="*/ 685800 h 685800"/>
                  <a:gd name="connsiteX1" fmla="*/ 685800 w 685800"/>
                  <a:gd name="connsiteY1" fmla="*/ 0 h 685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5800" h="685800">
                    <a:moveTo>
                      <a:pt x="0" y="685800"/>
                    </a:moveTo>
                    <a:cubicBezTo>
                      <a:pt x="0" y="307086"/>
                      <a:pt x="307086" y="0"/>
                      <a:pt x="685800" y="0"/>
                    </a:cubicBezTo>
                  </a:path>
                </a:pathLst>
              </a:custGeom>
              <a:noFill/>
              <a:ln w="6350" cap="flat">
                <a:solidFill>
                  <a:srgbClr val="006F4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89879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Arial"/>
                </a:endParaRPr>
              </a:p>
            </p:txBody>
          </p:sp>
          <p:sp>
            <p:nvSpPr>
              <p:cNvPr id="50" name="Freeform: Shape 261">
                <a:extLst>
                  <a:ext uri="{FF2B5EF4-FFF2-40B4-BE49-F238E27FC236}">
                    <a16:creationId xmlns:a16="http://schemas.microsoft.com/office/drawing/2014/main" id="{F7F57D31-93B4-C0B1-117F-2950B7A837DD}"/>
                  </a:ext>
                </a:extLst>
              </p:cNvPr>
              <p:cNvSpPr/>
              <p:nvPr/>
            </p:nvSpPr>
            <p:spPr>
              <a:xfrm>
                <a:off x="2260490" y="2057104"/>
                <a:ext cx="347837" cy="347837"/>
              </a:xfrm>
              <a:custGeom>
                <a:avLst/>
                <a:gdLst>
                  <a:gd name="connsiteX0" fmla="*/ 685800 w 685800"/>
                  <a:gd name="connsiteY0" fmla="*/ 685800 h 685800"/>
                  <a:gd name="connsiteX1" fmla="*/ 0 w 685800"/>
                  <a:gd name="connsiteY1" fmla="*/ 0 h 685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5800" h="685800">
                    <a:moveTo>
                      <a:pt x="685800" y="685800"/>
                    </a:moveTo>
                    <a:cubicBezTo>
                      <a:pt x="307086" y="685800"/>
                      <a:pt x="0" y="378714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rgbClr val="006F44"/>
                </a:solidFill>
                <a:prstDash val="sysDot"/>
                <a:miter/>
              </a:ln>
            </p:spPr>
            <p:txBody>
              <a:bodyPr rtlCol="0" anchor="ctr"/>
              <a:lstStyle/>
              <a:p>
                <a:pPr marL="0" marR="0" lvl="0" indent="0" defTabSz="89879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Arial"/>
                </a:endParaRPr>
              </a:p>
            </p:txBody>
          </p:sp>
        </p:grp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612EF90-3A05-94F2-8F6C-C264B96DB81C}"/>
                </a:ext>
              </a:extLst>
            </p:cNvPr>
            <p:cNvSpPr>
              <a:spLocks/>
            </p:cNvSpPr>
            <p:nvPr/>
          </p:nvSpPr>
          <p:spPr>
            <a:xfrm>
              <a:off x="2845545" y="1135464"/>
              <a:ext cx="676579" cy="676578"/>
            </a:xfrm>
            <a:prstGeom prst="ellipse">
              <a:avLst/>
            </a:prstGeom>
            <a:solidFill>
              <a:srgbClr val="8EDD65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6F4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1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787FCDA-A585-5294-85F9-48F2DED125FF}"/>
              </a:ext>
            </a:extLst>
          </p:cNvPr>
          <p:cNvGrpSpPr/>
          <p:nvPr/>
        </p:nvGrpSpPr>
        <p:grpSpPr>
          <a:xfrm>
            <a:off x="457197" y="2193570"/>
            <a:ext cx="5413248" cy="721185"/>
            <a:chOff x="3011207" y="5361412"/>
            <a:chExt cx="3022706" cy="793303"/>
          </a:xfrm>
        </p:grpSpPr>
        <p:pic>
          <p:nvPicPr>
            <p:cNvPr id="51" name="Picture 50" descr="A curved building with windows&#10;&#10;Description automatically generated with medium confidence">
              <a:extLst>
                <a:ext uri="{FF2B5EF4-FFF2-40B4-BE49-F238E27FC236}">
                  <a16:creationId xmlns:a16="http://schemas.microsoft.com/office/drawing/2014/main" id="{A667EBF2-DC77-D7AE-81A0-152BDFFB5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011207" y="5361412"/>
              <a:ext cx="3022706" cy="729447"/>
            </a:xfrm>
            <a:custGeom>
              <a:avLst/>
              <a:gdLst>
                <a:gd name="connsiteX0" fmla="*/ 0 w 3392836"/>
                <a:gd name="connsiteY0" fmla="*/ 0 h 811531"/>
                <a:gd name="connsiteX1" fmla="*/ 3392836 w 3392836"/>
                <a:gd name="connsiteY1" fmla="*/ 0 h 811531"/>
                <a:gd name="connsiteX2" fmla="*/ 3392836 w 3392836"/>
                <a:gd name="connsiteY2" fmla="*/ 811531 h 811531"/>
                <a:gd name="connsiteX3" fmla="*/ 0 w 3392836"/>
                <a:gd name="connsiteY3" fmla="*/ 811531 h 811531"/>
                <a:gd name="connsiteX4" fmla="*/ 0 w 3392836"/>
                <a:gd name="connsiteY4" fmla="*/ 0 h 81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2836" h="811531">
                  <a:moveTo>
                    <a:pt x="0" y="0"/>
                  </a:moveTo>
                  <a:lnTo>
                    <a:pt x="3392836" y="0"/>
                  </a:lnTo>
                  <a:lnTo>
                    <a:pt x="3392836" y="811531"/>
                  </a:lnTo>
                  <a:lnTo>
                    <a:pt x="0" y="811531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A8FB414-6DB5-2CF5-8772-431CF43ECB2B}"/>
                </a:ext>
              </a:extLst>
            </p:cNvPr>
            <p:cNvSpPr>
              <a:spLocks/>
            </p:cNvSpPr>
            <p:nvPr/>
          </p:nvSpPr>
          <p:spPr>
            <a:xfrm>
              <a:off x="3011207" y="5361412"/>
              <a:ext cx="3022706" cy="729447"/>
            </a:xfrm>
            <a:prstGeom prst="rect">
              <a:avLst/>
            </a:prstGeom>
            <a:solidFill>
              <a:srgbClr val="006F44">
                <a:alpha val="80000"/>
              </a:srgbClr>
            </a:solidFill>
            <a:ln w="9525" cap="rnd">
              <a:noFill/>
              <a:prstDash val="sysDot"/>
            </a:ln>
          </p:spPr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07409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Arial"/>
                </a:rPr>
                <a:t>Quantifiable Value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BF6490E-DD11-3C2A-549D-EAB198B5E60E}"/>
                </a:ext>
              </a:extLst>
            </p:cNvPr>
            <p:cNvCxnSpPr>
              <a:cxnSpLocks/>
            </p:cNvCxnSpPr>
            <p:nvPr/>
          </p:nvCxnSpPr>
          <p:spPr>
            <a:xfrm>
              <a:off x="3011207" y="6154715"/>
              <a:ext cx="3022706" cy="0"/>
            </a:xfrm>
            <a:prstGeom prst="line">
              <a:avLst/>
            </a:prstGeom>
            <a:ln w="6350" cap="sq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F1EB65B-980D-8694-CE1D-0133D9361754}"/>
                </a:ext>
              </a:extLst>
            </p:cNvPr>
            <p:cNvCxnSpPr>
              <a:cxnSpLocks/>
            </p:cNvCxnSpPr>
            <p:nvPr/>
          </p:nvCxnSpPr>
          <p:spPr>
            <a:xfrm>
              <a:off x="4254448" y="6154715"/>
              <a:ext cx="536224" cy="0"/>
            </a:xfrm>
            <a:prstGeom prst="line">
              <a:avLst/>
            </a:prstGeom>
            <a:ln w="12700" cap="sq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BFCF172-5F9C-CA3D-259A-3DD6345103A8}"/>
              </a:ext>
            </a:extLst>
          </p:cNvPr>
          <p:cNvGrpSpPr/>
          <p:nvPr/>
        </p:nvGrpSpPr>
        <p:grpSpPr>
          <a:xfrm>
            <a:off x="6324598" y="2193570"/>
            <a:ext cx="5413248" cy="721185"/>
            <a:chOff x="6711613" y="5361412"/>
            <a:chExt cx="3022706" cy="793303"/>
          </a:xfrm>
        </p:grpSpPr>
        <p:pic>
          <p:nvPicPr>
            <p:cNvPr id="55" name="Picture 54" descr="A curved building with windows&#10;&#10;Description automatically generated with medium confidence">
              <a:extLst>
                <a:ext uri="{FF2B5EF4-FFF2-40B4-BE49-F238E27FC236}">
                  <a16:creationId xmlns:a16="http://schemas.microsoft.com/office/drawing/2014/main" id="{AC23BF8B-9F87-77D8-77E3-601E5CB1F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711613" y="5361412"/>
              <a:ext cx="3022706" cy="729447"/>
            </a:xfrm>
            <a:custGeom>
              <a:avLst/>
              <a:gdLst>
                <a:gd name="connsiteX0" fmla="*/ 0 w 3392836"/>
                <a:gd name="connsiteY0" fmla="*/ 0 h 811531"/>
                <a:gd name="connsiteX1" fmla="*/ 3392836 w 3392836"/>
                <a:gd name="connsiteY1" fmla="*/ 0 h 811531"/>
                <a:gd name="connsiteX2" fmla="*/ 3392836 w 3392836"/>
                <a:gd name="connsiteY2" fmla="*/ 811531 h 811531"/>
                <a:gd name="connsiteX3" fmla="*/ 0 w 3392836"/>
                <a:gd name="connsiteY3" fmla="*/ 811531 h 811531"/>
                <a:gd name="connsiteX4" fmla="*/ 0 w 3392836"/>
                <a:gd name="connsiteY4" fmla="*/ 0 h 81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2836" h="811531">
                  <a:moveTo>
                    <a:pt x="0" y="0"/>
                  </a:moveTo>
                  <a:lnTo>
                    <a:pt x="3392836" y="0"/>
                  </a:lnTo>
                  <a:lnTo>
                    <a:pt x="3392836" y="811531"/>
                  </a:lnTo>
                  <a:lnTo>
                    <a:pt x="0" y="811531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1EFED60-3E5A-5387-00D1-B916DEBF2CC7}"/>
                </a:ext>
              </a:extLst>
            </p:cNvPr>
            <p:cNvSpPr>
              <a:spLocks/>
            </p:cNvSpPr>
            <p:nvPr/>
          </p:nvSpPr>
          <p:spPr>
            <a:xfrm>
              <a:off x="6711613" y="5361412"/>
              <a:ext cx="3022706" cy="729447"/>
            </a:xfrm>
            <a:prstGeom prst="rect">
              <a:avLst/>
            </a:prstGeom>
            <a:solidFill>
              <a:srgbClr val="006F44">
                <a:alpha val="80000"/>
              </a:srgbClr>
            </a:solidFill>
            <a:ln w="9525" cap="rnd">
              <a:noFill/>
              <a:prstDash val="sysDot"/>
            </a:ln>
          </p:spPr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07409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Arial"/>
                </a:rPr>
                <a:t>Strategic Value</a:t>
              </a: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41E19D2-8FFA-0A53-D9BC-29EFD636D9BC}"/>
                </a:ext>
              </a:extLst>
            </p:cNvPr>
            <p:cNvCxnSpPr>
              <a:cxnSpLocks/>
            </p:cNvCxnSpPr>
            <p:nvPr/>
          </p:nvCxnSpPr>
          <p:spPr>
            <a:xfrm>
              <a:off x="6711613" y="6154715"/>
              <a:ext cx="3022706" cy="0"/>
            </a:xfrm>
            <a:prstGeom prst="line">
              <a:avLst/>
            </a:prstGeom>
            <a:ln w="6350" cap="sq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17F4436-FDF1-18C7-BD9F-ECACE0A7AAC5}"/>
                </a:ext>
              </a:extLst>
            </p:cNvPr>
            <p:cNvCxnSpPr>
              <a:cxnSpLocks/>
            </p:cNvCxnSpPr>
            <p:nvPr/>
          </p:nvCxnSpPr>
          <p:spPr>
            <a:xfrm>
              <a:off x="7954854" y="6154715"/>
              <a:ext cx="536224" cy="0"/>
            </a:xfrm>
            <a:prstGeom prst="line">
              <a:avLst/>
            </a:prstGeom>
            <a:ln w="12700" cap="sq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2">
          <a:extLst>
            <a:ext uri="{FF2B5EF4-FFF2-40B4-BE49-F238E27FC236}">
              <a16:creationId xmlns:a16="http://schemas.microsoft.com/office/drawing/2014/main" id="{460E98F1-01DD-05A2-7C32-87D24FE00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6F65AAA-81B1-7441-6307-144051FD90F8}"/>
              </a:ext>
            </a:extLst>
          </p:cNvPr>
          <p:cNvCxnSpPr>
            <a:cxnSpLocks/>
          </p:cNvCxnSpPr>
          <p:nvPr/>
        </p:nvCxnSpPr>
        <p:spPr>
          <a:xfrm>
            <a:off x="0" y="1702366"/>
            <a:ext cx="12192000" cy="19492"/>
          </a:xfrm>
          <a:prstGeom prst="line">
            <a:avLst/>
          </a:prstGeom>
          <a:ln w="12700">
            <a:solidFill>
              <a:srgbClr val="24674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9">
            <a:extLst>
              <a:ext uri="{FF2B5EF4-FFF2-40B4-BE49-F238E27FC236}">
                <a16:creationId xmlns:a16="http://schemas.microsoft.com/office/drawing/2014/main" id="{BD78943B-ABB3-6D03-9E9E-E7597EF5A3C3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rtl="0"/>
            <a:r>
              <a:rPr lang="en-US" sz="2800" spc="-25" dirty="0">
                <a:solidFill>
                  <a:srgbClr val="246742"/>
                </a:solidFill>
              </a:rPr>
              <a:t>Value Proposition globally 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2CB53FD-0175-3180-2772-99779A7B360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3009900"/>
            <a:ext cx="5410200" cy="3314697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Ins="182880"/>
          <a:lstStyle/>
          <a:p>
            <a:pPr marL="139700" indent="0">
              <a:spcAft>
                <a:spcPts val="600"/>
              </a:spcAft>
              <a:buNone/>
            </a:pP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4D5F0D14-9857-06B4-3863-B12499F3AFAB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324600" y="3009900"/>
            <a:ext cx="5410200" cy="3314697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Ins="182880"/>
          <a:lstStyle/>
          <a:p>
            <a:pPr>
              <a:spcAft>
                <a:spcPts val="600"/>
              </a:spcAft>
            </a:pPr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B49189E-D4CD-2C8E-5A3F-AAEBE9813F50}"/>
              </a:ext>
            </a:extLst>
          </p:cNvPr>
          <p:cNvGrpSpPr>
            <a:grpSpLocks noChangeAspect="1"/>
          </p:cNvGrpSpPr>
          <p:nvPr/>
        </p:nvGrpSpPr>
        <p:grpSpPr>
          <a:xfrm>
            <a:off x="8782698" y="1367266"/>
            <a:ext cx="728676" cy="728676"/>
            <a:chOff x="2783071" y="1075493"/>
            <a:chExt cx="801543" cy="801544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A59B56C-0C0E-0932-5D34-BCCE324AE16F}"/>
                </a:ext>
              </a:extLst>
            </p:cNvPr>
            <p:cNvGrpSpPr/>
            <p:nvPr/>
          </p:nvGrpSpPr>
          <p:grpSpPr>
            <a:xfrm rot="16200000">
              <a:off x="2783071" y="1075493"/>
              <a:ext cx="801544" cy="801543"/>
              <a:chOff x="2260490" y="1709262"/>
              <a:chExt cx="695678" cy="695679"/>
            </a:xfrm>
          </p:grpSpPr>
          <p:sp>
            <p:nvSpPr>
              <p:cNvPr id="40" name="Freeform: Shape 257">
                <a:extLst>
                  <a:ext uri="{FF2B5EF4-FFF2-40B4-BE49-F238E27FC236}">
                    <a16:creationId xmlns:a16="http://schemas.microsoft.com/office/drawing/2014/main" id="{2E034FF2-1F59-9F93-6BC0-9B4DFCC636F9}"/>
                  </a:ext>
                </a:extLst>
              </p:cNvPr>
              <p:cNvSpPr/>
              <p:nvPr/>
            </p:nvSpPr>
            <p:spPr>
              <a:xfrm>
                <a:off x="2608331" y="2057098"/>
                <a:ext cx="347837" cy="347837"/>
              </a:xfrm>
              <a:custGeom>
                <a:avLst/>
                <a:gdLst>
                  <a:gd name="connsiteX0" fmla="*/ 685800 w 685800"/>
                  <a:gd name="connsiteY0" fmla="*/ 0 h 685800"/>
                  <a:gd name="connsiteX1" fmla="*/ 0 w 685800"/>
                  <a:gd name="connsiteY1" fmla="*/ 685800 h 685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5800" h="685800">
                    <a:moveTo>
                      <a:pt x="685800" y="0"/>
                    </a:moveTo>
                    <a:cubicBezTo>
                      <a:pt x="685800" y="378714"/>
                      <a:pt x="378714" y="685800"/>
                      <a:pt x="0" y="685800"/>
                    </a:cubicBezTo>
                  </a:path>
                </a:pathLst>
              </a:custGeom>
              <a:noFill/>
              <a:ln w="6350" cap="flat">
                <a:solidFill>
                  <a:srgbClr val="24674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89879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Arial"/>
                </a:endParaRPr>
              </a:p>
            </p:txBody>
          </p:sp>
          <p:sp>
            <p:nvSpPr>
              <p:cNvPr id="41" name="Freeform: Shape 258">
                <a:extLst>
                  <a:ext uri="{FF2B5EF4-FFF2-40B4-BE49-F238E27FC236}">
                    <a16:creationId xmlns:a16="http://schemas.microsoft.com/office/drawing/2014/main" id="{11C4EF16-4978-19F2-A205-F0CFE13CC888}"/>
                  </a:ext>
                </a:extLst>
              </p:cNvPr>
              <p:cNvSpPr/>
              <p:nvPr/>
            </p:nvSpPr>
            <p:spPr>
              <a:xfrm>
                <a:off x="2608330" y="1709262"/>
                <a:ext cx="347837" cy="347838"/>
              </a:xfrm>
              <a:custGeom>
                <a:avLst/>
                <a:gdLst>
                  <a:gd name="connsiteX0" fmla="*/ 0 w 685800"/>
                  <a:gd name="connsiteY0" fmla="*/ 0 h 685800"/>
                  <a:gd name="connsiteX1" fmla="*/ 685800 w 685800"/>
                  <a:gd name="connsiteY1" fmla="*/ 685800 h 685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5800" h="685800">
                    <a:moveTo>
                      <a:pt x="0" y="0"/>
                    </a:moveTo>
                    <a:cubicBezTo>
                      <a:pt x="378714" y="0"/>
                      <a:pt x="685800" y="307086"/>
                      <a:pt x="685800" y="685800"/>
                    </a:cubicBezTo>
                  </a:path>
                </a:pathLst>
              </a:custGeom>
              <a:noFill/>
              <a:ln w="6350" cap="rnd">
                <a:solidFill>
                  <a:srgbClr val="246742"/>
                </a:solidFill>
                <a:prstDash val="sysDot"/>
                <a:miter/>
              </a:ln>
            </p:spPr>
            <p:txBody>
              <a:bodyPr rtlCol="0" anchor="ctr"/>
              <a:lstStyle/>
              <a:p>
                <a:pPr marL="0" marR="0" lvl="0" indent="0" defTabSz="89879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Arial"/>
                </a:endParaRPr>
              </a:p>
            </p:txBody>
          </p:sp>
          <p:sp>
            <p:nvSpPr>
              <p:cNvPr id="42" name="Freeform: Shape 259">
                <a:extLst>
                  <a:ext uri="{FF2B5EF4-FFF2-40B4-BE49-F238E27FC236}">
                    <a16:creationId xmlns:a16="http://schemas.microsoft.com/office/drawing/2014/main" id="{98B17F23-6AA2-2667-9533-FCAC32878162}"/>
                  </a:ext>
                </a:extLst>
              </p:cNvPr>
              <p:cNvSpPr/>
              <p:nvPr/>
            </p:nvSpPr>
            <p:spPr>
              <a:xfrm>
                <a:off x="2260490" y="1709263"/>
                <a:ext cx="347837" cy="347837"/>
              </a:xfrm>
              <a:custGeom>
                <a:avLst/>
                <a:gdLst>
                  <a:gd name="connsiteX0" fmla="*/ 0 w 685800"/>
                  <a:gd name="connsiteY0" fmla="*/ 685800 h 685800"/>
                  <a:gd name="connsiteX1" fmla="*/ 685800 w 685800"/>
                  <a:gd name="connsiteY1" fmla="*/ 0 h 685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5800" h="685800">
                    <a:moveTo>
                      <a:pt x="0" y="685800"/>
                    </a:moveTo>
                    <a:cubicBezTo>
                      <a:pt x="0" y="307086"/>
                      <a:pt x="307086" y="0"/>
                      <a:pt x="685800" y="0"/>
                    </a:cubicBezTo>
                  </a:path>
                </a:pathLst>
              </a:custGeom>
              <a:noFill/>
              <a:ln w="6350" cap="flat">
                <a:solidFill>
                  <a:srgbClr val="006F4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89879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Arial"/>
                </a:endParaRPr>
              </a:p>
            </p:txBody>
          </p:sp>
          <p:sp>
            <p:nvSpPr>
              <p:cNvPr id="43" name="Freeform: Shape 261">
                <a:extLst>
                  <a:ext uri="{FF2B5EF4-FFF2-40B4-BE49-F238E27FC236}">
                    <a16:creationId xmlns:a16="http://schemas.microsoft.com/office/drawing/2014/main" id="{1EAEE224-1574-5550-97D3-13C72310B046}"/>
                  </a:ext>
                </a:extLst>
              </p:cNvPr>
              <p:cNvSpPr/>
              <p:nvPr/>
            </p:nvSpPr>
            <p:spPr>
              <a:xfrm>
                <a:off x="2260490" y="2057104"/>
                <a:ext cx="347837" cy="347837"/>
              </a:xfrm>
              <a:custGeom>
                <a:avLst/>
                <a:gdLst>
                  <a:gd name="connsiteX0" fmla="*/ 685800 w 685800"/>
                  <a:gd name="connsiteY0" fmla="*/ 685800 h 685800"/>
                  <a:gd name="connsiteX1" fmla="*/ 0 w 685800"/>
                  <a:gd name="connsiteY1" fmla="*/ 0 h 685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5800" h="685800">
                    <a:moveTo>
                      <a:pt x="685800" y="685800"/>
                    </a:moveTo>
                    <a:cubicBezTo>
                      <a:pt x="307086" y="685800"/>
                      <a:pt x="0" y="378714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rgbClr val="006F44"/>
                </a:solidFill>
                <a:prstDash val="sysDot"/>
                <a:miter/>
              </a:ln>
            </p:spPr>
            <p:txBody>
              <a:bodyPr rtlCol="0" anchor="ctr"/>
              <a:lstStyle/>
              <a:p>
                <a:pPr marL="0" marR="0" lvl="0" indent="0" defTabSz="89879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Arial"/>
                </a:endParaRPr>
              </a:p>
            </p:txBody>
          </p:sp>
        </p:grp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32BB167-0ED9-2957-31CD-DE6CC94D6D10}"/>
                </a:ext>
              </a:extLst>
            </p:cNvPr>
            <p:cNvSpPr>
              <a:spLocks/>
            </p:cNvSpPr>
            <p:nvPr/>
          </p:nvSpPr>
          <p:spPr>
            <a:xfrm>
              <a:off x="2845545" y="1135464"/>
              <a:ext cx="676579" cy="676578"/>
            </a:xfrm>
            <a:prstGeom prst="ellipse">
              <a:avLst/>
            </a:prstGeom>
            <a:solidFill>
              <a:srgbClr val="8EDD65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6F4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2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4990D8A-52A9-A1EC-4260-BEF6F7357765}"/>
              </a:ext>
            </a:extLst>
          </p:cNvPr>
          <p:cNvGrpSpPr>
            <a:grpSpLocks noChangeAspect="1"/>
          </p:cNvGrpSpPr>
          <p:nvPr/>
        </p:nvGrpSpPr>
        <p:grpSpPr>
          <a:xfrm>
            <a:off x="2797962" y="1347774"/>
            <a:ext cx="728676" cy="728676"/>
            <a:chOff x="2783071" y="1075493"/>
            <a:chExt cx="801543" cy="801544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9E3D37D-322D-11E4-9E05-B6694E007623}"/>
                </a:ext>
              </a:extLst>
            </p:cNvPr>
            <p:cNvGrpSpPr/>
            <p:nvPr/>
          </p:nvGrpSpPr>
          <p:grpSpPr>
            <a:xfrm rot="16200000">
              <a:off x="2783071" y="1075493"/>
              <a:ext cx="801544" cy="801543"/>
              <a:chOff x="2260490" y="1709262"/>
              <a:chExt cx="695678" cy="695679"/>
            </a:xfrm>
          </p:grpSpPr>
          <p:sp>
            <p:nvSpPr>
              <p:cNvPr id="47" name="Freeform: Shape 257">
                <a:extLst>
                  <a:ext uri="{FF2B5EF4-FFF2-40B4-BE49-F238E27FC236}">
                    <a16:creationId xmlns:a16="http://schemas.microsoft.com/office/drawing/2014/main" id="{654DACF0-512B-E9DF-37D8-FA867102495A}"/>
                  </a:ext>
                </a:extLst>
              </p:cNvPr>
              <p:cNvSpPr/>
              <p:nvPr/>
            </p:nvSpPr>
            <p:spPr>
              <a:xfrm>
                <a:off x="2608331" y="2057098"/>
                <a:ext cx="347837" cy="347837"/>
              </a:xfrm>
              <a:custGeom>
                <a:avLst/>
                <a:gdLst>
                  <a:gd name="connsiteX0" fmla="*/ 685800 w 685800"/>
                  <a:gd name="connsiteY0" fmla="*/ 0 h 685800"/>
                  <a:gd name="connsiteX1" fmla="*/ 0 w 685800"/>
                  <a:gd name="connsiteY1" fmla="*/ 685800 h 685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5800" h="685800">
                    <a:moveTo>
                      <a:pt x="685800" y="0"/>
                    </a:moveTo>
                    <a:cubicBezTo>
                      <a:pt x="685800" y="378714"/>
                      <a:pt x="378714" y="685800"/>
                      <a:pt x="0" y="685800"/>
                    </a:cubicBezTo>
                  </a:path>
                </a:pathLst>
              </a:custGeom>
              <a:noFill/>
              <a:ln w="6350" cap="flat">
                <a:solidFill>
                  <a:srgbClr val="24674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89879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Arial"/>
                </a:endParaRPr>
              </a:p>
            </p:txBody>
          </p:sp>
          <p:sp>
            <p:nvSpPr>
              <p:cNvPr id="48" name="Freeform: Shape 258">
                <a:extLst>
                  <a:ext uri="{FF2B5EF4-FFF2-40B4-BE49-F238E27FC236}">
                    <a16:creationId xmlns:a16="http://schemas.microsoft.com/office/drawing/2014/main" id="{881895D2-995A-4573-8652-1FAD984C2DCF}"/>
                  </a:ext>
                </a:extLst>
              </p:cNvPr>
              <p:cNvSpPr/>
              <p:nvPr/>
            </p:nvSpPr>
            <p:spPr>
              <a:xfrm>
                <a:off x="2608330" y="1709262"/>
                <a:ext cx="347837" cy="347838"/>
              </a:xfrm>
              <a:custGeom>
                <a:avLst/>
                <a:gdLst>
                  <a:gd name="connsiteX0" fmla="*/ 0 w 685800"/>
                  <a:gd name="connsiteY0" fmla="*/ 0 h 685800"/>
                  <a:gd name="connsiteX1" fmla="*/ 685800 w 685800"/>
                  <a:gd name="connsiteY1" fmla="*/ 685800 h 685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5800" h="685800">
                    <a:moveTo>
                      <a:pt x="0" y="0"/>
                    </a:moveTo>
                    <a:cubicBezTo>
                      <a:pt x="378714" y="0"/>
                      <a:pt x="685800" y="307086"/>
                      <a:pt x="685800" y="685800"/>
                    </a:cubicBezTo>
                  </a:path>
                </a:pathLst>
              </a:custGeom>
              <a:noFill/>
              <a:ln w="6350" cap="rnd">
                <a:solidFill>
                  <a:srgbClr val="246742"/>
                </a:solidFill>
                <a:prstDash val="sysDot"/>
                <a:miter/>
              </a:ln>
            </p:spPr>
            <p:txBody>
              <a:bodyPr rtlCol="0" anchor="ctr"/>
              <a:lstStyle/>
              <a:p>
                <a:pPr marL="0" marR="0" lvl="0" indent="0" defTabSz="89879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Arial"/>
                </a:endParaRPr>
              </a:p>
            </p:txBody>
          </p:sp>
          <p:sp>
            <p:nvSpPr>
              <p:cNvPr id="49" name="Freeform: Shape 259">
                <a:extLst>
                  <a:ext uri="{FF2B5EF4-FFF2-40B4-BE49-F238E27FC236}">
                    <a16:creationId xmlns:a16="http://schemas.microsoft.com/office/drawing/2014/main" id="{CD20353B-ED99-D146-AC69-828F4BD39F9E}"/>
                  </a:ext>
                </a:extLst>
              </p:cNvPr>
              <p:cNvSpPr/>
              <p:nvPr/>
            </p:nvSpPr>
            <p:spPr>
              <a:xfrm>
                <a:off x="2260490" y="1709263"/>
                <a:ext cx="347837" cy="347837"/>
              </a:xfrm>
              <a:custGeom>
                <a:avLst/>
                <a:gdLst>
                  <a:gd name="connsiteX0" fmla="*/ 0 w 685800"/>
                  <a:gd name="connsiteY0" fmla="*/ 685800 h 685800"/>
                  <a:gd name="connsiteX1" fmla="*/ 685800 w 685800"/>
                  <a:gd name="connsiteY1" fmla="*/ 0 h 685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5800" h="685800">
                    <a:moveTo>
                      <a:pt x="0" y="685800"/>
                    </a:moveTo>
                    <a:cubicBezTo>
                      <a:pt x="0" y="307086"/>
                      <a:pt x="307086" y="0"/>
                      <a:pt x="685800" y="0"/>
                    </a:cubicBezTo>
                  </a:path>
                </a:pathLst>
              </a:custGeom>
              <a:noFill/>
              <a:ln w="6350" cap="flat">
                <a:solidFill>
                  <a:srgbClr val="006F4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89879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Arial"/>
                </a:endParaRPr>
              </a:p>
            </p:txBody>
          </p:sp>
          <p:sp>
            <p:nvSpPr>
              <p:cNvPr id="50" name="Freeform: Shape 261">
                <a:extLst>
                  <a:ext uri="{FF2B5EF4-FFF2-40B4-BE49-F238E27FC236}">
                    <a16:creationId xmlns:a16="http://schemas.microsoft.com/office/drawing/2014/main" id="{67664321-F426-B50F-BA1F-3A5D20475135}"/>
                  </a:ext>
                </a:extLst>
              </p:cNvPr>
              <p:cNvSpPr/>
              <p:nvPr/>
            </p:nvSpPr>
            <p:spPr>
              <a:xfrm>
                <a:off x="2260490" y="2057104"/>
                <a:ext cx="347837" cy="347837"/>
              </a:xfrm>
              <a:custGeom>
                <a:avLst/>
                <a:gdLst>
                  <a:gd name="connsiteX0" fmla="*/ 685800 w 685800"/>
                  <a:gd name="connsiteY0" fmla="*/ 685800 h 685800"/>
                  <a:gd name="connsiteX1" fmla="*/ 0 w 685800"/>
                  <a:gd name="connsiteY1" fmla="*/ 0 h 685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5800" h="685800">
                    <a:moveTo>
                      <a:pt x="685800" y="685800"/>
                    </a:moveTo>
                    <a:cubicBezTo>
                      <a:pt x="307086" y="685800"/>
                      <a:pt x="0" y="378714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rgbClr val="006F44"/>
                </a:solidFill>
                <a:prstDash val="sysDot"/>
                <a:miter/>
              </a:ln>
            </p:spPr>
            <p:txBody>
              <a:bodyPr rtlCol="0" anchor="ctr"/>
              <a:lstStyle/>
              <a:p>
                <a:pPr marL="0" marR="0" lvl="0" indent="0" defTabSz="89879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Arial"/>
                </a:endParaRPr>
              </a:p>
            </p:txBody>
          </p:sp>
        </p:grp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C9DD8F1-9F24-5CC6-1F6C-B96972CFDA18}"/>
                </a:ext>
              </a:extLst>
            </p:cNvPr>
            <p:cNvSpPr>
              <a:spLocks/>
            </p:cNvSpPr>
            <p:nvPr/>
          </p:nvSpPr>
          <p:spPr>
            <a:xfrm>
              <a:off x="2845545" y="1135464"/>
              <a:ext cx="676579" cy="676578"/>
            </a:xfrm>
            <a:prstGeom prst="ellipse">
              <a:avLst/>
            </a:prstGeom>
            <a:solidFill>
              <a:srgbClr val="8EDD65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6F4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1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26DA059-B579-45CC-749E-A7464A1EDF5A}"/>
              </a:ext>
            </a:extLst>
          </p:cNvPr>
          <p:cNvGrpSpPr/>
          <p:nvPr/>
        </p:nvGrpSpPr>
        <p:grpSpPr>
          <a:xfrm>
            <a:off x="457197" y="2193570"/>
            <a:ext cx="5413248" cy="721185"/>
            <a:chOff x="3011207" y="5361412"/>
            <a:chExt cx="3022706" cy="793303"/>
          </a:xfrm>
        </p:grpSpPr>
        <p:pic>
          <p:nvPicPr>
            <p:cNvPr id="51" name="Picture 50" descr="A curved building with windows&#10;&#10;Description automatically generated with medium confidence">
              <a:extLst>
                <a:ext uri="{FF2B5EF4-FFF2-40B4-BE49-F238E27FC236}">
                  <a16:creationId xmlns:a16="http://schemas.microsoft.com/office/drawing/2014/main" id="{98C813AD-28F3-BF6A-508D-0A08C3506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011207" y="5361412"/>
              <a:ext cx="3022706" cy="729447"/>
            </a:xfrm>
            <a:custGeom>
              <a:avLst/>
              <a:gdLst>
                <a:gd name="connsiteX0" fmla="*/ 0 w 3392836"/>
                <a:gd name="connsiteY0" fmla="*/ 0 h 811531"/>
                <a:gd name="connsiteX1" fmla="*/ 3392836 w 3392836"/>
                <a:gd name="connsiteY1" fmla="*/ 0 h 811531"/>
                <a:gd name="connsiteX2" fmla="*/ 3392836 w 3392836"/>
                <a:gd name="connsiteY2" fmla="*/ 811531 h 811531"/>
                <a:gd name="connsiteX3" fmla="*/ 0 w 3392836"/>
                <a:gd name="connsiteY3" fmla="*/ 811531 h 811531"/>
                <a:gd name="connsiteX4" fmla="*/ 0 w 3392836"/>
                <a:gd name="connsiteY4" fmla="*/ 0 h 81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2836" h="811531">
                  <a:moveTo>
                    <a:pt x="0" y="0"/>
                  </a:moveTo>
                  <a:lnTo>
                    <a:pt x="3392836" y="0"/>
                  </a:lnTo>
                  <a:lnTo>
                    <a:pt x="3392836" y="811531"/>
                  </a:lnTo>
                  <a:lnTo>
                    <a:pt x="0" y="811531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B016605-05D3-4655-B613-FBD0CC9842A8}"/>
                </a:ext>
              </a:extLst>
            </p:cNvPr>
            <p:cNvSpPr>
              <a:spLocks/>
            </p:cNvSpPr>
            <p:nvPr/>
          </p:nvSpPr>
          <p:spPr>
            <a:xfrm>
              <a:off x="3011207" y="5361412"/>
              <a:ext cx="3022706" cy="729447"/>
            </a:xfrm>
            <a:prstGeom prst="rect">
              <a:avLst/>
            </a:prstGeom>
            <a:solidFill>
              <a:srgbClr val="006F44">
                <a:alpha val="80000"/>
              </a:srgbClr>
            </a:solidFill>
            <a:ln w="9525" cap="rnd">
              <a:noFill/>
              <a:prstDash val="sysDot"/>
            </a:ln>
          </p:spPr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07409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Arial"/>
                </a:rPr>
                <a:t>Quantifiable Value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75557BD-24BB-5341-8579-E9CF37454ED0}"/>
                </a:ext>
              </a:extLst>
            </p:cNvPr>
            <p:cNvCxnSpPr>
              <a:cxnSpLocks/>
            </p:cNvCxnSpPr>
            <p:nvPr/>
          </p:nvCxnSpPr>
          <p:spPr>
            <a:xfrm>
              <a:off x="3011207" y="6154715"/>
              <a:ext cx="3022706" cy="0"/>
            </a:xfrm>
            <a:prstGeom prst="line">
              <a:avLst/>
            </a:prstGeom>
            <a:ln w="6350" cap="sq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F32453F-0A48-2744-9E75-91828ABAB305}"/>
                </a:ext>
              </a:extLst>
            </p:cNvPr>
            <p:cNvCxnSpPr>
              <a:cxnSpLocks/>
            </p:cNvCxnSpPr>
            <p:nvPr/>
          </p:nvCxnSpPr>
          <p:spPr>
            <a:xfrm>
              <a:off x="4254448" y="6154715"/>
              <a:ext cx="536224" cy="0"/>
            </a:xfrm>
            <a:prstGeom prst="line">
              <a:avLst/>
            </a:prstGeom>
            <a:ln w="12700" cap="sq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5722605-B2F3-ADD6-3D0F-82ECFEF28089}"/>
              </a:ext>
            </a:extLst>
          </p:cNvPr>
          <p:cNvGrpSpPr/>
          <p:nvPr/>
        </p:nvGrpSpPr>
        <p:grpSpPr>
          <a:xfrm>
            <a:off x="6324598" y="2193570"/>
            <a:ext cx="5413248" cy="721185"/>
            <a:chOff x="6711613" y="5361412"/>
            <a:chExt cx="3022706" cy="793303"/>
          </a:xfrm>
        </p:grpSpPr>
        <p:pic>
          <p:nvPicPr>
            <p:cNvPr id="55" name="Picture 54" descr="A curved building with windows&#10;&#10;Description automatically generated with medium confidence">
              <a:extLst>
                <a:ext uri="{FF2B5EF4-FFF2-40B4-BE49-F238E27FC236}">
                  <a16:creationId xmlns:a16="http://schemas.microsoft.com/office/drawing/2014/main" id="{40E65EED-BCE9-ECF7-94AD-B4C4E7C904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711613" y="5361412"/>
              <a:ext cx="3022706" cy="729447"/>
            </a:xfrm>
            <a:custGeom>
              <a:avLst/>
              <a:gdLst>
                <a:gd name="connsiteX0" fmla="*/ 0 w 3392836"/>
                <a:gd name="connsiteY0" fmla="*/ 0 h 811531"/>
                <a:gd name="connsiteX1" fmla="*/ 3392836 w 3392836"/>
                <a:gd name="connsiteY1" fmla="*/ 0 h 811531"/>
                <a:gd name="connsiteX2" fmla="*/ 3392836 w 3392836"/>
                <a:gd name="connsiteY2" fmla="*/ 811531 h 811531"/>
                <a:gd name="connsiteX3" fmla="*/ 0 w 3392836"/>
                <a:gd name="connsiteY3" fmla="*/ 811531 h 811531"/>
                <a:gd name="connsiteX4" fmla="*/ 0 w 3392836"/>
                <a:gd name="connsiteY4" fmla="*/ 0 h 81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2836" h="811531">
                  <a:moveTo>
                    <a:pt x="0" y="0"/>
                  </a:moveTo>
                  <a:lnTo>
                    <a:pt x="3392836" y="0"/>
                  </a:lnTo>
                  <a:lnTo>
                    <a:pt x="3392836" y="811531"/>
                  </a:lnTo>
                  <a:lnTo>
                    <a:pt x="0" y="811531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EAC5CE-8661-5079-0C94-D60D1415C8BE}"/>
                </a:ext>
              </a:extLst>
            </p:cNvPr>
            <p:cNvSpPr>
              <a:spLocks/>
            </p:cNvSpPr>
            <p:nvPr/>
          </p:nvSpPr>
          <p:spPr>
            <a:xfrm>
              <a:off x="6711613" y="5361412"/>
              <a:ext cx="3022706" cy="729447"/>
            </a:xfrm>
            <a:prstGeom prst="rect">
              <a:avLst/>
            </a:prstGeom>
            <a:solidFill>
              <a:srgbClr val="006F44">
                <a:alpha val="80000"/>
              </a:srgbClr>
            </a:solidFill>
            <a:ln w="9525" cap="rnd">
              <a:noFill/>
              <a:prstDash val="sysDot"/>
            </a:ln>
          </p:spPr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07409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Arial"/>
                </a:rPr>
                <a:t>Strategic Value</a:t>
              </a: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5D7598C-3995-8910-C893-5417EEF1A9DE}"/>
                </a:ext>
              </a:extLst>
            </p:cNvPr>
            <p:cNvCxnSpPr>
              <a:cxnSpLocks/>
            </p:cNvCxnSpPr>
            <p:nvPr/>
          </p:nvCxnSpPr>
          <p:spPr>
            <a:xfrm>
              <a:off x="6711613" y="6154715"/>
              <a:ext cx="3022706" cy="0"/>
            </a:xfrm>
            <a:prstGeom prst="line">
              <a:avLst/>
            </a:prstGeom>
            <a:ln w="6350" cap="sq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6215A71-55FD-38C2-F4EB-2DCFFED6476F}"/>
                </a:ext>
              </a:extLst>
            </p:cNvPr>
            <p:cNvCxnSpPr>
              <a:cxnSpLocks/>
            </p:cNvCxnSpPr>
            <p:nvPr/>
          </p:nvCxnSpPr>
          <p:spPr>
            <a:xfrm>
              <a:off x="7954854" y="6154715"/>
              <a:ext cx="536224" cy="0"/>
            </a:xfrm>
            <a:prstGeom prst="line">
              <a:avLst/>
            </a:prstGeom>
            <a:ln w="12700" cap="sq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89026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558B140-7017-5A32-B798-049E5A23E9B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rtl="0"/>
            <a:r>
              <a:rPr lang="en-US" sz="2800" spc="-25" dirty="0">
                <a:solidFill>
                  <a:srgbClr val="246742"/>
                </a:solidFill>
              </a:rPr>
              <a:t>Opportunities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513D0B9-57D4-E1BA-E641-A36897A468F5}"/>
              </a:ext>
            </a:extLst>
          </p:cNvPr>
          <p:cNvGrpSpPr/>
          <p:nvPr/>
        </p:nvGrpSpPr>
        <p:grpSpPr>
          <a:xfrm>
            <a:off x="447964" y="1368656"/>
            <a:ext cx="3474407" cy="4418131"/>
            <a:chOff x="8280400" y="1368656"/>
            <a:chExt cx="3474407" cy="4418131"/>
          </a:xfrm>
        </p:grpSpPr>
        <p:sp>
          <p:nvSpPr>
            <p:cNvPr id="3" name="Rectangle 2" descr="lal">
              <a:extLst>
                <a:ext uri="{FF2B5EF4-FFF2-40B4-BE49-F238E27FC236}">
                  <a16:creationId xmlns:a16="http://schemas.microsoft.com/office/drawing/2014/main" id="{4A099402-519A-0931-892E-51A445DCC6E8}"/>
                </a:ext>
              </a:extLst>
            </p:cNvPr>
            <p:cNvSpPr>
              <a:spLocks/>
            </p:cNvSpPr>
            <p:nvPr/>
          </p:nvSpPr>
          <p:spPr>
            <a:xfrm>
              <a:off x="8280400" y="1883665"/>
              <a:ext cx="3474407" cy="390312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73" tIns="365760" rIns="72073" bIns="72073" rtlCol="0" anchor="t"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31537AE-18CD-E618-D7A9-B8AD760B86EF}"/>
                </a:ext>
              </a:extLst>
            </p:cNvPr>
            <p:cNvGrpSpPr>
              <a:grpSpLocks/>
            </p:cNvGrpSpPr>
            <p:nvPr/>
          </p:nvGrpSpPr>
          <p:grpSpPr>
            <a:xfrm>
              <a:off x="8280400" y="1368656"/>
              <a:ext cx="3474407" cy="471999"/>
              <a:chOff x="454027" y="1269536"/>
              <a:chExt cx="5416879" cy="571119"/>
            </a:xfrm>
          </p:grpSpPr>
          <p:pic>
            <p:nvPicPr>
              <p:cNvPr id="5" name="Picture 4" descr="Low angle view of a building&#10;&#10;Description automatically generated">
                <a:extLst>
                  <a:ext uri="{FF2B5EF4-FFF2-40B4-BE49-F238E27FC236}">
                    <a16:creationId xmlns:a16="http://schemas.microsoft.com/office/drawing/2014/main" id="{0423087C-F53B-4570-55B2-23AE403B6D3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6254" t="45644" r="1887" b="46352"/>
              <a:stretch/>
            </p:blipFill>
            <p:spPr>
              <a:xfrm>
                <a:off x="454027" y="1269536"/>
                <a:ext cx="5413030" cy="518550"/>
              </a:xfrm>
              <a:custGeom>
                <a:avLst/>
                <a:gdLst>
                  <a:gd name="connsiteX0" fmla="*/ 0 w 3817589"/>
                  <a:gd name="connsiteY0" fmla="*/ 0 h 640218"/>
                  <a:gd name="connsiteX1" fmla="*/ 3817589 w 3817589"/>
                  <a:gd name="connsiteY1" fmla="*/ 0 h 640218"/>
                  <a:gd name="connsiteX2" fmla="*/ 3817589 w 3817589"/>
                  <a:gd name="connsiteY2" fmla="*/ 640218 h 640218"/>
                  <a:gd name="connsiteX3" fmla="*/ 0 w 3817589"/>
                  <a:gd name="connsiteY3" fmla="*/ 640218 h 640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7589" h="640218">
                    <a:moveTo>
                      <a:pt x="0" y="0"/>
                    </a:moveTo>
                    <a:lnTo>
                      <a:pt x="3817589" y="0"/>
                    </a:lnTo>
                    <a:lnTo>
                      <a:pt x="3817589" y="640218"/>
                    </a:lnTo>
                    <a:lnTo>
                      <a:pt x="0" y="640218"/>
                    </a:lnTo>
                    <a:close/>
                  </a:path>
                </a:pathLst>
              </a:cu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08F3E50-EF17-F6EF-9746-25A3E889B33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4027" y="1269536"/>
                <a:ext cx="5416879" cy="518550"/>
              </a:xfrm>
              <a:prstGeom prst="rect">
                <a:avLst/>
              </a:prstGeom>
              <a:solidFill>
                <a:srgbClr val="246742">
                  <a:alpha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45720" rIns="0" bIns="0" rtlCol="0" anchor="t"/>
              <a:lstStyle/>
              <a:p>
                <a:pPr marL="91440"/>
                <a:r>
                  <a:rPr lang="en-GB" sz="1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Overview</a:t>
                </a:r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68C5D1F-E37A-EF99-12CD-A1211A38F2C0}"/>
                  </a:ext>
                </a:extLst>
              </p:cNvPr>
              <p:cNvGrpSpPr/>
              <p:nvPr/>
            </p:nvGrpSpPr>
            <p:grpSpPr>
              <a:xfrm>
                <a:off x="457890" y="1840655"/>
                <a:ext cx="5413016" cy="0"/>
                <a:chOff x="2032011" y="2206455"/>
                <a:chExt cx="3199326" cy="0"/>
              </a:xfrm>
            </p:grpSpPr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C6033A14-08E3-3118-FB96-858E4851CB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32011" y="2206455"/>
                  <a:ext cx="3199326" cy="0"/>
                </a:xfrm>
                <a:prstGeom prst="line">
                  <a:avLst/>
                </a:prstGeom>
                <a:ln w="6350" cap="rnd">
                  <a:solidFill>
                    <a:srgbClr val="246742"/>
                  </a:solidFill>
                  <a:prstDash val="sysDot"/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6B9E6E91-F020-8AD5-F492-598FDD4097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32011" y="2206455"/>
                  <a:ext cx="273171" cy="0"/>
                </a:xfrm>
                <a:prstGeom prst="line">
                  <a:avLst/>
                </a:prstGeom>
                <a:ln w="19050">
                  <a:solidFill>
                    <a:srgbClr val="24674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C365D87A-4116-8FF3-7A13-975C4CB78907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368799" y="2185343"/>
            <a:ext cx="2523744" cy="3337560"/>
          </a:xfrm>
          <a:prstGeom prst="rect">
            <a:avLst/>
          </a:prstGeom>
        </p:spPr>
      </p:pic>
      <p:graphicFrame>
        <p:nvGraphicFramePr>
          <p:cNvPr id="1396" name="Google Shape;1396;p64"/>
          <p:cNvGraphicFramePr/>
          <p:nvPr>
            <p:extLst>
              <p:ext uri="{D42A27DB-BD31-4B8C-83A1-F6EECF244321}">
                <p14:modId xmlns:p14="http://schemas.microsoft.com/office/powerpoint/2010/main" val="1441349653"/>
              </p:ext>
            </p:extLst>
          </p:nvPr>
        </p:nvGraphicFramePr>
        <p:xfrm>
          <a:off x="4368799" y="1880533"/>
          <a:ext cx="7374000" cy="364237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52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400" b="1" u="sng" dirty="0">
                          <a:solidFill>
                            <a:srgbClr val="24674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</a:t>
                      </a:r>
                      <a:endParaRPr sz="2000" b="1" u="sng" dirty="0">
                        <a:solidFill>
                          <a:srgbClr val="24674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u="sng" dirty="0" err="1">
                          <a:solidFill>
                            <a:srgbClr val="24674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Excpaected</a:t>
                      </a:r>
                      <a:r>
                        <a:rPr lang="en-GB" sz="1400" b="1" u="sng" dirty="0">
                          <a:solidFill>
                            <a:srgbClr val="24674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outcome </a:t>
                      </a:r>
                      <a:endParaRPr sz="1400" b="1" u="sng" dirty="0">
                        <a:solidFill>
                          <a:srgbClr val="24674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sng" dirty="0">
                          <a:solidFill>
                            <a:srgbClr val="24674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Challenges </a:t>
                      </a:r>
                      <a:endParaRPr sz="1400" b="1" u="sng" dirty="0">
                        <a:solidFill>
                          <a:srgbClr val="24674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b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457200" algn="l" rtl="0" fontAlgn="ctr">
                        <a:buNone/>
                      </a:pP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674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457200" algn="l" rtl="0" fontAlgn="ctr">
                        <a:buNone/>
                      </a:pP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674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457200" algn="l" rtl="0" fontAlgn="ctr">
                        <a:buNone/>
                      </a:pP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674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457200" algn="l" rtl="0" fontAlgn="ctr">
                        <a:buNone/>
                      </a:pP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674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457200" algn="l" rtl="0" fontAlgn="ctr">
                        <a:buNone/>
                      </a:pP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674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45595EB2-A71B-FED7-6774-66F96D75F4B4}"/>
              </a:ext>
            </a:extLst>
          </p:cNvPr>
          <p:cNvGrpSpPr/>
          <p:nvPr/>
        </p:nvGrpSpPr>
        <p:grpSpPr>
          <a:xfrm>
            <a:off x="4081304" y="1368656"/>
            <a:ext cx="128561" cy="4435859"/>
            <a:chOff x="7644423" y="1768231"/>
            <a:chExt cx="129847" cy="5234906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4E38030-4EF7-3320-FFDA-0E64ADB0939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518366" y="2959298"/>
              <a:ext cx="2382134" cy="0"/>
            </a:xfrm>
            <a:prstGeom prst="straightConnector1">
              <a:avLst/>
            </a:prstGeom>
            <a:ln w="6350" cap="sq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F06DB17-16AE-05A2-74CD-190E91B6CF39}"/>
                </a:ext>
              </a:extLst>
            </p:cNvPr>
            <p:cNvGrpSpPr/>
            <p:nvPr/>
          </p:nvGrpSpPr>
          <p:grpSpPr>
            <a:xfrm rot="10800000">
              <a:off x="7644423" y="4259103"/>
              <a:ext cx="129847" cy="260180"/>
              <a:chOff x="8048088" y="4003699"/>
              <a:chExt cx="93829" cy="205932"/>
            </a:xfrm>
          </p:grpSpPr>
          <p:sp>
            <p:nvSpPr>
              <p:cNvPr id="35" name="Graphic 11">
                <a:extLst>
                  <a:ext uri="{FF2B5EF4-FFF2-40B4-BE49-F238E27FC236}">
                    <a16:creationId xmlns:a16="http://schemas.microsoft.com/office/drawing/2014/main" id="{081364F2-EB0E-7905-11C6-EC503DC02D12}"/>
                  </a:ext>
                </a:extLst>
              </p:cNvPr>
              <p:cNvSpPr/>
              <p:nvPr/>
            </p:nvSpPr>
            <p:spPr>
              <a:xfrm flipH="1">
                <a:off x="8048088" y="4003699"/>
                <a:ext cx="62944" cy="205932"/>
              </a:xfrm>
              <a:custGeom>
                <a:avLst/>
                <a:gdLst>
                  <a:gd name="connsiteX0" fmla="*/ 0 w 172593"/>
                  <a:gd name="connsiteY0" fmla="*/ 0 h 345186"/>
                  <a:gd name="connsiteX1" fmla="*/ 172593 w 172593"/>
                  <a:gd name="connsiteY1" fmla="*/ 172593 h 345186"/>
                  <a:gd name="connsiteX2" fmla="*/ 0 w 172593"/>
                  <a:gd name="connsiteY2" fmla="*/ 345186 h 345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2593" h="345186">
                    <a:moveTo>
                      <a:pt x="0" y="0"/>
                    </a:moveTo>
                    <a:lnTo>
                      <a:pt x="172593" y="172593"/>
                    </a:lnTo>
                    <a:lnTo>
                      <a:pt x="0" y="345186"/>
                    </a:lnTo>
                  </a:path>
                </a:pathLst>
              </a:custGeom>
              <a:noFill/>
              <a:ln w="9525" cap="rnd">
                <a:solidFill>
                  <a:srgbClr val="24674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6" name="Graphic 59">
                <a:extLst>
                  <a:ext uri="{FF2B5EF4-FFF2-40B4-BE49-F238E27FC236}">
                    <a16:creationId xmlns:a16="http://schemas.microsoft.com/office/drawing/2014/main" id="{B38C8D1B-64A6-802B-29AB-D4FDA251171E}"/>
                  </a:ext>
                </a:extLst>
              </p:cNvPr>
              <p:cNvSpPr/>
              <p:nvPr/>
            </p:nvSpPr>
            <p:spPr>
              <a:xfrm flipH="1">
                <a:off x="8078973" y="4003699"/>
                <a:ext cx="62944" cy="205932"/>
              </a:xfrm>
              <a:custGeom>
                <a:avLst/>
                <a:gdLst>
                  <a:gd name="connsiteX0" fmla="*/ 0 w 172593"/>
                  <a:gd name="connsiteY0" fmla="*/ 0 h 345186"/>
                  <a:gd name="connsiteX1" fmla="*/ 172593 w 172593"/>
                  <a:gd name="connsiteY1" fmla="*/ 172593 h 345186"/>
                  <a:gd name="connsiteX2" fmla="*/ 0 w 172593"/>
                  <a:gd name="connsiteY2" fmla="*/ 345186 h 345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2593" h="345186">
                    <a:moveTo>
                      <a:pt x="0" y="0"/>
                    </a:moveTo>
                    <a:lnTo>
                      <a:pt x="172593" y="172593"/>
                    </a:lnTo>
                    <a:lnTo>
                      <a:pt x="0" y="345186"/>
                    </a:lnTo>
                  </a:path>
                </a:pathLst>
              </a:custGeom>
              <a:noFill/>
              <a:ln w="6350" cap="rnd">
                <a:solidFill>
                  <a:schemeClr val="accent3"/>
                </a:solidFill>
                <a:prstDash val="sysDot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D252D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88C9528-4B87-962E-608B-B6DCC378971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521875" y="5815579"/>
              <a:ext cx="2375117" cy="0"/>
            </a:xfrm>
            <a:prstGeom prst="straightConnector1">
              <a:avLst/>
            </a:prstGeom>
            <a:ln w="6350" cap="sq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E9C30754-9E0A-445A-8708-F209C22B0E20}"/>
              </a:ext>
            </a:extLst>
          </p:cNvPr>
          <p:cNvSpPr/>
          <p:nvPr/>
        </p:nvSpPr>
        <p:spPr>
          <a:xfrm>
            <a:off x="4368799" y="1368656"/>
            <a:ext cx="3486338" cy="40953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24674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4578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642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d30742d7-d7e4-4547-a49c-0fcd92f2b524" origin="userSelected">
  <element uid="51d95a3f-b518-4d95-bc59-f4e36b349ca8" value=""/>
</sisl>
</file>

<file path=customXml/itemProps1.xml><?xml version="1.0" encoding="utf-8"?>
<ds:datastoreItem xmlns:ds="http://schemas.openxmlformats.org/officeDocument/2006/customXml" ds:itemID="{E0CA807B-B290-4851-8E2B-F41D48A57072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2161</TotalTime>
  <Words>193</Words>
  <Application>Microsoft Office PowerPoint</Application>
  <PresentationFormat>Widescreen</PresentationFormat>
  <Paragraphs>110</Paragraphs>
  <Slides>7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Sakkal Majalla</vt:lpstr>
      <vt:lpstr>Times New Roman</vt:lpstr>
      <vt:lpstr>1_Office Theme</vt:lpstr>
      <vt:lpstr>think-cell Slide</vt:lpstr>
      <vt:lpstr>The Olayan Group</vt:lpstr>
      <vt:lpstr>Overview of top holdings (Non-exhaustive)</vt:lpstr>
      <vt:lpstr>Collaborations</vt:lpstr>
      <vt:lpstr>Overview of investments/ operations (Non-exhaustive)</vt:lpstr>
      <vt:lpstr>Value Proposition to the Kingdom</vt:lpstr>
      <vt:lpstr>Value Proposition globally </vt:lpstr>
      <vt:lpstr>Opportunities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Name</dc:title>
  <dc:creator>Shouq Almarshad (MiddleEast)</dc:creator>
  <cp:lastModifiedBy>Majed H. Alsaadi</cp:lastModifiedBy>
  <cp:revision>33</cp:revision>
  <dcterms:created xsi:type="dcterms:W3CDTF">2025-09-17T16:04:25Z</dcterms:created>
  <dcterms:modified xsi:type="dcterms:W3CDTF">2026-04-21T07:28:47Z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86bc53f8-d5c0-46b8-ae95-2e0b7955a090</vt:lpwstr>
  </property>
  <property fmtid="{D5CDD505-2E9C-101B-9397-08002B2CF9AE}" pid="3" name="bjClsUserRVM">
    <vt:lpwstr>[]</vt:lpwstr>
  </property>
  <property fmtid="{D5CDD505-2E9C-101B-9397-08002B2CF9AE}" pid="4" name="bjSaver">
    <vt:lpwstr>ShaORwUxrDT28frfD99ATckjDj1hveg9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policy="d30742d7-d7e4-4547-a49c-0fcd92f2b524" origin="userSelected" xmlns="http://www.boldonj</vt:lpwstr>
  </property>
  <property fmtid="{D5CDD505-2E9C-101B-9397-08002B2CF9AE}" pid="6" name="bjDocumentLabelXML-0">
    <vt:lpwstr>ames.com/2008/01/sie/internal/label"&gt;&lt;element uid="51d95a3f-b518-4d95-bc59-f4e36b349ca8" value="" /&gt;&lt;/sisl&gt;</vt:lpwstr>
  </property>
  <property fmtid="{D5CDD505-2E9C-101B-9397-08002B2CF9AE}" pid="7" name="bjDocumentSecurityLabel">
    <vt:lpwstr>Public /  متاح</vt:lpwstr>
  </property>
</Properties>
</file>